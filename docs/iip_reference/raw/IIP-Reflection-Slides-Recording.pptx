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67" r:id="rId2"/>
    <p:sldId id="266" r:id="rId3"/>
    <p:sldId id="257" r:id="rId4"/>
    <p:sldId id="256" r:id="rId5"/>
    <p:sldId id="269" r:id="rId6"/>
    <p:sldId id="270" r:id="rId7"/>
    <p:sldId id="260" r:id="rId8"/>
    <p:sldId id="261" r:id="rId9"/>
    <p:sldId id="271" r:id="rId10"/>
    <p:sldId id="272" r:id="rId11"/>
    <p:sldId id="268" r:id="rId12"/>
    <p:sldId id="25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63" autoAdjust="0"/>
    <p:restoredTop sz="82637" autoAdjust="0"/>
  </p:normalViewPr>
  <p:slideViewPr>
    <p:cSldViewPr snapToGrid="0">
      <p:cViewPr varScale="1">
        <p:scale>
          <a:sx n="61" d="100"/>
          <a:sy n="61" d="100"/>
        </p:scale>
        <p:origin x="90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4737B0-2832-4FA6-A186-EFEBB2B3759D}" type="datetimeFigureOut">
              <a:rPr lang="en-SG" smtClean="0"/>
              <a:t>8/6/2025</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455A3A-7641-4601-B9A8-74686EB1C3D8}" type="slidenum">
              <a:rPr lang="en-SG" smtClean="0"/>
              <a:t>‹#›</a:t>
            </a:fld>
            <a:endParaRPr lang="en-SG"/>
          </a:p>
        </p:txBody>
      </p:sp>
    </p:spTree>
    <p:extLst>
      <p:ext uri="{BB962C8B-B14F-4D97-AF65-F5344CB8AC3E}">
        <p14:creationId xmlns:p14="http://schemas.microsoft.com/office/powerpoint/2010/main" val="16800118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g319acbfe7a8_3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1" name="Google Shape;451;g319acbfe7a8_3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rtl="0">
              <a:spcBef>
                <a:spcPts val="1800"/>
              </a:spcBef>
              <a:spcAft>
                <a:spcPts val="1800"/>
              </a:spcAft>
            </a:pPr>
            <a:r>
              <a:rPr lang="en-US" sz="1800" b="0" i="0" u="none" strike="noStrike" dirty="0">
                <a:solidFill>
                  <a:srgbClr val="000000"/>
                </a:solidFill>
                <a:effectLst/>
                <a:latin typeface="Arial" panose="020B0604020202020204" pitchFamily="34" charset="0"/>
              </a:rPr>
              <a:t>Welcome to our reflection video. </a:t>
            </a:r>
            <a:br>
              <a:rPr lang="en-US" sz="1800" b="0" i="0" u="none" strike="noStrike" dirty="0">
                <a:solidFill>
                  <a:srgbClr val="000000"/>
                </a:solidFill>
                <a:effectLst/>
                <a:latin typeface="Arial" panose="020B0604020202020204" pitchFamily="34" charset="0"/>
              </a:rPr>
            </a:br>
            <a:endParaRPr lang="en-US" b="0" dirty="0">
              <a:effectLst/>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g319acbfe7a8_1_3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6" name="Google Shape;456;g319acbfe7a8_1_3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rtl="0">
              <a:spcBef>
                <a:spcPts val="1800"/>
              </a:spcBef>
              <a:spcAft>
                <a:spcPts val="1800"/>
              </a:spcAft>
            </a:pPr>
            <a:r>
              <a:rPr lang="en-US" sz="1800" b="0" i="0" u="none" strike="noStrike" dirty="0">
                <a:solidFill>
                  <a:srgbClr val="000000"/>
                </a:solidFill>
                <a:effectLst/>
                <a:latin typeface="Arial" panose="020B0604020202020204" pitchFamily="34" charset="0"/>
              </a:rPr>
              <a:t>Our project addresses the mental health challenges faced by high school students under academic pressure. </a:t>
            </a:r>
            <a:br>
              <a:rPr lang="en-US" sz="1800" b="0" i="0" u="none" strike="noStrike" dirty="0">
                <a:solidFill>
                  <a:srgbClr val="000000"/>
                </a:solidFill>
                <a:effectLst/>
                <a:latin typeface="Arial" panose="020B0604020202020204" pitchFamily="34" charset="0"/>
              </a:rPr>
            </a:br>
            <a:r>
              <a:rPr lang="en-US" sz="1800" b="0" i="0" u="none" strike="noStrike" dirty="0">
                <a:solidFill>
                  <a:srgbClr val="000000"/>
                </a:solidFill>
                <a:effectLst/>
                <a:latin typeface="Arial" panose="020B0604020202020204" pitchFamily="34" charset="0"/>
              </a:rPr>
              <a:t>We aimed to provide affordable, accessible mental health tools that empower students to manage stress and improve well-being. </a:t>
            </a:r>
            <a:br>
              <a:rPr lang="en-US" sz="1800" b="0" i="0" u="none" strike="noStrike" dirty="0">
                <a:solidFill>
                  <a:srgbClr val="000000"/>
                </a:solidFill>
                <a:effectLst/>
                <a:latin typeface="Arial" panose="020B0604020202020204" pitchFamily="34" charset="0"/>
              </a:rPr>
            </a:br>
            <a:r>
              <a:rPr lang="en-US" sz="1800" b="0" i="0" u="none" strike="noStrike" dirty="0">
                <a:solidFill>
                  <a:srgbClr val="000000"/>
                </a:solidFill>
                <a:effectLst/>
                <a:latin typeface="Arial" panose="020B0604020202020204" pitchFamily="34" charset="0"/>
              </a:rPr>
              <a:t>In this video, we’ll reflect on five significant learning moments and how the DD+ framework guided our journey, using insights captured on our Miro board.</a:t>
            </a:r>
            <a:endParaRPr lang="en-US" sz="2000" b="0" dirty="0">
              <a:effectLst/>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1800"/>
              </a:spcBef>
              <a:spcAft>
                <a:spcPts val="1800"/>
              </a:spcAft>
            </a:pPr>
            <a:r>
              <a:rPr lang="en-US" sz="1800" b="0" i="1" u="none" strike="noStrike" dirty="0">
                <a:solidFill>
                  <a:srgbClr val="000000"/>
                </a:solidFill>
                <a:effectLst/>
                <a:latin typeface="Arial" panose="020B0604020202020204" pitchFamily="34" charset="0"/>
              </a:rPr>
              <a:t>"Our first learning moment was reframing our initial POV statement into a focused HMW question. Initially, our POV targeted all students, but critical debates led us to narrow it down to high school students. The debate weighed reach against depth. Some advocated for broader impact, while others  emphasized the feasibility of targeting a specific group."</a:t>
            </a:r>
            <a:endParaRPr lang="en-US" b="0" dirty="0">
              <a:effectLst/>
            </a:endParaRPr>
          </a:p>
          <a:p>
            <a:pPr rtl="0">
              <a:spcBef>
                <a:spcPts val="1800"/>
              </a:spcBef>
              <a:spcAft>
                <a:spcPts val="1800"/>
              </a:spcAft>
            </a:pPr>
            <a:r>
              <a:rPr lang="en-US" sz="1800" b="0" i="1" u="none" strike="noStrike" dirty="0">
                <a:solidFill>
                  <a:srgbClr val="000000"/>
                </a:solidFill>
                <a:effectLst/>
                <a:latin typeface="Arial" panose="020B0604020202020204" pitchFamily="34" charset="0"/>
              </a:rPr>
              <a:t>" We chose high school students for greater relevance and feasibility. This key decision reflected a tradeoff between addressing a broader audience and creating tailored solutions</a:t>
            </a:r>
            <a:endParaRPr lang="en-SG" dirty="0"/>
          </a:p>
        </p:txBody>
      </p:sp>
      <p:sp>
        <p:nvSpPr>
          <p:cNvPr id="4" name="Slide Number Placeholder 3"/>
          <p:cNvSpPr>
            <a:spLocks noGrp="1"/>
          </p:cNvSpPr>
          <p:nvPr>
            <p:ph type="sldNum" sz="quarter" idx="5"/>
          </p:nvPr>
        </p:nvSpPr>
        <p:spPr/>
        <p:txBody>
          <a:bodyPr/>
          <a:lstStyle/>
          <a:p>
            <a:fld id="{3A455A3A-7641-4601-B9A8-74686EB1C3D8}" type="slidenum">
              <a:rPr lang="en-SG" smtClean="0"/>
              <a:t>3</a:t>
            </a:fld>
            <a:endParaRPr lang="en-SG"/>
          </a:p>
        </p:txBody>
      </p:sp>
    </p:spTree>
    <p:extLst>
      <p:ext uri="{BB962C8B-B14F-4D97-AF65-F5344CB8AC3E}">
        <p14:creationId xmlns:p14="http://schemas.microsoft.com/office/powerpoint/2010/main" val="25778407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1800"/>
              </a:spcBef>
              <a:spcAft>
                <a:spcPts val="1800"/>
              </a:spcAft>
            </a:pPr>
            <a:r>
              <a:rPr lang="en-US" sz="1200" b="0" i="1" u="none" strike="noStrike" dirty="0">
                <a:solidFill>
                  <a:srgbClr val="000000"/>
                </a:solidFill>
                <a:effectLst/>
                <a:latin typeface="Arial" panose="020B0604020202020204" pitchFamily="34" charset="0"/>
              </a:rPr>
              <a:t>. Guided by the DD+ framework, we transitioned from divergence—exploring multiple personas—to convergence—refining our target group. This process led us to craft our final HMW question: ‘How might we integrate digital tools that enable high school students facing academic pressure and mental health challenges  to access affordable resources  for managing stress effectively and improving their well-being?’"</a:t>
            </a:r>
            <a:endParaRPr lang="en-US" b="0" dirty="0">
              <a:effectLst/>
            </a:endParaRPr>
          </a:p>
          <a:p>
            <a:r>
              <a:rPr lang="en-US" dirty="0"/>
              <a:t/>
            </a:r>
            <a:br>
              <a:rPr lang="en-US" dirty="0"/>
            </a:br>
            <a:endParaRPr lang="en-SG" dirty="0"/>
          </a:p>
          <a:p>
            <a:endParaRPr lang="en-SG" dirty="0"/>
          </a:p>
        </p:txBody>
      </p:sp>
      <p:sp>
        <p:nvSpPr>
          <p:cNvPr id="4" name="Slide Number Placeholder 3"/>
          <p:cNvSpPr>
            <a:spLocks noGrp="1"/>
          </p:cNvSpPr>
          <p:nvPr>
            <p:ph type="sldNum" sz="quarter" idx="5"/>
          </p:nvPr>
        </p:nvSpPr>
        <p:spPr/>
        <p:txBody>
          <a:bodyPr/>
          <a:lstStyle/>
          <a:p>
            <a:fld id="{3A455A3A-7641-4601-B9A8-74686EB1C3D8}" type="slidenum">
              <a:rPr lang="en-SG" smtClean="0"/>
              <a:t>4</a:t>
            </a:fld>
            <a:endParaRPr lang="en-SG"/>
          </a:p>
        </p:txBody>
      </p:sp>
    </p:spTree>
    <p:extLst>
      <p:ext uri="{BB962C8B-B14F-4D97-AF65-F5344CB8AC3E}">
        <p14:creationId xmlns:p14="http://schemas.microsoft.com/office/powerpoint/2010/main" val="30466872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6" name="Google Shape;76;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4" name="Google Shape;84;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182d524728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182d524728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800" b="0" i="1" u="none" strike="noStrike" dirty="0">
                <a:solidFill>
                  <a:srgbClr val="000000"/>
                </a:solidFill>
                <a:effectLst/>
                <a:latin typeface="Arial" panose="020B0604020202020204" pitchFamily="34" charset="0"/>
              </a:rPr>
              <a:t>"Another critical moment was developing our business model. We debated adopting a freemium model or a subscription-based approach targeting institutions.  The freemium model increased accessibility but limited revenue, whereas subscriptions sustained operations but reduced adoption."</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1c3fc086c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31c3fc086c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800" b="0" i="1" u="none" strike="noStrike" dirty="0">
                <a:solidFill>
                  <a:srgbClr val="000000"/>
                </a:solidFill>
                <a:effectLst/>
                <a:latin typeface="Arial" panose="020B0604020202020204" pitchFamily="34" charset="0"/>
              </a:rPr>
              <a:t>"We decided on a tiered subscription model targeting institutions while offering free basic features for students. This pivot expanded our target audience to include caregivers and schools. Applying the DD+ framework, we explored various pricing models through divergence and refined a sustainable revenue strategy during convergence. Iterative feedback from stakeholders ensures alignment with user needs while maintaining financial viability."</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319acbfe7a8_3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319acbfe7a8_3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800"/>
              </a:spcBef>
              <a:spcAft>
                <a:spcPts val="0"/>
              </a:spcAft>
              <a:buNone/>
            </a:pPr>
            <a:r>
              <a:rPr lang="en" sz="1200" dirty="0">
                <a:solidFill>
                  <a:schemeClr val="dk1"/>
                </a:solidFill>
              </a:rPr>
              <a:t>Our final significant moment involved integrating stakeholder feedback through iterative refinement. </a:t>
            </a:r>
            <a:endParaRPr sz="1200" dirty="0">
              <a:solidFill>
                <a:schemeClr val="dk1"/>
              </a:solidFill>
            </a:endParaRPr>
          </a:p>
          <a:p>
            <a:pPr marL="0" lvl="0" indent="0" algn="l" rtl="0">
              <a:lnSpc>
                <a:spcPct val="115000"/>
              </a:lnSpc>
              <a:spcBef>
                <a:spcPts val="1800"/>
              </a:spcBef>
              <a:spcAft>
                <a:spcPts val="0"/>
              </a:spcAft>
              <a:buNone/>
            </a:pPr>
            <a:r>
              <a:rPr lang="en" sz="1200" dirty="0">
                <a:solidFill>
                  <a:schemeClr val="dk1"/>
                </a:solidFill>
              </a:rPr>
              <a:t>Stakeholders highlighted the need for community-driven features,  leading us to add </a:t>
            </a:r>
            <a:r>
              <a:rPr lang="en" sz="1200" b="1" dirty="0">
                <a:solidFill>
                  <a:schemeClr val="dk1"/>
                </a:solidFill>
              </a:rPr>
              <a:t>shared stress management challenges</a:t>
            </a:r>
            <a:r>
              <a:rPr lang="en" sz="1200" dirty="0">
                <a:solidFill>
                  <a:schemeClr val="dk1"/>
                </a:solidFill>
              </a:rPr>
              <a:t>. </a:t>
            </a:r>
            <a:endParaRPr sz="1200" dirty="0">
              <a:solidFill>
                <a:schemeClr val="dk1"/>
              </a:solidFill>
            </a:endParaRPr>
          </a:p>
          <a:p>
            <a:pPr marL="0" lvl="0" indent="0" algn="l" rtl="0">
              <a:lnSpc>
                <a:spcPct val="115000"/>
              </a:lnSpc>
              <a:spcBef>
                <a:spcPts val="1800"/>
              </a:spcBef>
              <a:spcAft>
                <a:spcPts val="0"/>
              </a:spcAft>
              <a:buClr>
                <a:schemeClr val="dk1"/>
              </a:buClr>
              <a:buSzPts val="1100"/>
              <a:buFont typeface="Arial"/>
              <a:buNone/>
            </a:pPr>
            <a:r>
              <a:rPr lang="en" sz="1200" dirty="0">
                <a:solidFill>
                  <a:schemeClr val="dk1"/>
                </a:solidFill>
              </a:rPr>
              <a:t>This was a minor pivot that enhanced engagement without overcomplicating the platform.</a:t>
            </a:r>
            <a:endParaRPr sz="1200" dirty="0">
              <a:solidFill>
                <a:schemeClr val="dk1"/>
              </a:solidFill>
            </a:endParaRPr>
          </a:p>
          <a:p>
            <a:pPr marL="0" lvl="0" indent="0" algn="l" rtl="0">
              <a:lnSpc>
                <a:spcPct val="115000"/>
              </a:lnSpc>
              <a:spcBef>
                <a:spcPts val="1800"/>
              </a:spcBef>
              <a:spcAft>
                <a:spcPts val="0"/>
              </a:spcAft>
              <a:buNone/>
            </a:pPr>
            <a:r>
              <a:rPr lang="en" sz="1200" dirty="0">
                <a:solidFill>
                  <a:schemeClr val="dk1"/>
                </a:solidFill>
              </a:rPr>
              <a:t>Using the DD+ framework, we moved through cycles of divergence—gathering diverse inputs—and convergence—prioritizing actionable improvements. </a:t>
            </a:r>
            <a:endParaRPr sz="1200" dirty="0">
              <a:solidFill>
                <a:schemeClr val="dk1"/>
              </a:solidFill>
            </a:endParaRPr>
          </a:p>
          <a:p>
            <a:pPr marL="0" lvl="0" indent="0" algn="l" rtl="0">
              <a:lnSpc>
                <a:spcPct val="115000"/>
              </a:lnSpc>
              <a:spcBef>
                <a:spcPts val="1800"/>
              </a:spcBef>
              <a:spcAft>
                <a:spcPts val="1800"/>
              </a:spcAft>
              <a:buClr>
                <a:schemeClr val="dk1"/>
              </a:buClr>
              <a:buSzPts val="1100"/>
              <a:buFont typeface="Arial"/>
              <a:buNone/>
            </a:pPr>
            <a:r>
              <a:rPr lang="en" sz="1200" dirty="0">
                <a:solidFill>
                  <a:schemeClr val="dk1"/>
                </a:solidFill>
              </a:rPr>
              <a:t>This iterative process refined our prototype, ensured alignment with user needs, and highlighted the value of adaptability in innovation.</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1800"/>
              </a:spcBef>
              <a:spcAft>
                <a:spcPts val="1800"/>
              </a:spcAft>
            </a:pPr>
            <a:r>
              <a:rPr lang="en-US" sz="1800" b="0" i="1" u="none" strike="noStrike" dirty="0">
                <a:solidFill>
                  <a:srgbClr val="000000"/>
                </a:solidFill>
                <a:effectLst/>
                <a:latin typeface="Arial" panose="020B0604020202020204" pitchFamily="34" charset="0"/>
              </a:rPr>
              <a:t>"In summary, our journey highlighted constructive debates, tradeoffs, and iterative refinements as key to impactful solutions. By applying the DD+ framework, we transformed challenges into opportunities and created a platform tailored to high school students' mental health needs."</a:t>
            </a:r>
            <a:br>
              <a:rPr lang="en-US" sz="1800" b="0" i="1" u="none" strike="noStrike" dirty="0">
                <a:solidFill>
                  <a:srgbClr val="000000"/>
                </a:solidFill>
                <a:effectLst/>
                <a:latin typeface="Arial" panose="020B0604020202020204" pitchFamily="34" charset="0"/>
              </a:rPr>
            </a:br>
            <a:r>
              <a:rPr lang="en-US" sz="1800" b="1" i="0" u="none" strike="noStrike" dirty="0">
                <a:solidFill>
                  <a:srgbClr val="000000"/>
                </a:solidFill>
                <a:effectLst/>
                <a:latin typeface="Arial" panose="020B0604020202020204" pitchFamily="34" charset="0"/>
              </a:rPr>
              <a:t/>
            </a:r>
            <a:br>
              <a:rPr lang="en-US" sz="1800" b="1" i="0" u="none" strike="noStrike" dirty="0">
                <a:solidFill>
                  <a:srgbClr val="000000"/>
                </a:solidFill>
                <a:effectLst/>
                <a:latin typeface="Arial" panose="020B0604020202020204" pitchFamily="34" charset="0"/>
              </a:rPr>
            </a:br>
            <a:r>
              <a:rPr lang="en-US" sz="1800" b="0" i="1" u="none" strike="noStrike" dirty="0">
                <a:solidFill>
                  <a:srgbClr val="000000"/>
                </a:solidFill>
                <a:effectLst/>
                <a:latin typeface="Arial" panose="020B0604020202020204" pitchFamily="34" charset="0"/>
              </a:rPr>
              <a:t>"This project demonstrated the value of collaboration, adaptability, and stakeholder engagement. Through pivots and iterations, we balanced desirability, feasibility, and viability to create a meaningful and sustainable solution."</a:t>
            </a:r>
            <a:endParaRPr lang="en-US" b="0" dirty="0">
              <a:effectLst/>
            </a:endParaRPr>
          </a:p>
          <a:p>
            <a:r>
              <a:rPr lang="en-US" dirty="0"/>
              <a:t/>
            </a:r>
            <a:br>
              <a:rPr lang="en-US" dirty="0"/>
            </a:br>
            <a:endParaRPr lang="en-SG" dirty="0"/>
          </a:p>
        </p:txBody>
      </p:sp>
      <p:sp>
        <p:nvSpPr>
          <p:cNvPr id="4" name="Slide Number Placeholder 3"/>
          <p:cNvSpPr>
            <a:spLocks noGrp="1"/>
          </p:cNvSpPr>
          <p:nvPr>
            <p:ph type="sldNum" sz="quarter" idx="5"/>
          </p:nvPr>
        </p:nvSpPr>
        <p:spPr/>
        <p:txBody>
          <a:bodyPr/>
          <a:lstStyle/>
          <a:p>
            <a:fld id="{3A455A3A-7641-4601-B9A8-74686EB1C3D8}" type="slidenum">
              <a:rPr lang="en-SG" smtClean="0"/>
              <a:t>12</a:t>
            </a:fld>
            <a:endParaRPr lang="en-SG"/>
          </a:p>
        </p:txBody>
      </p:sp>
    </p:spTree>
    <p:extLst>
      <p:ext uri="{BB962C8B-B14F-4D97-AF65-F5344CB8AC3E}">
        <p14:creationId xmlns:p14="http://schemas.microsoft.com/office/powerpoint/2010/main" val="7871461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99040-8E26-4C51-D654-5F5112A470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077B12E4-6EFB-7631-73F7-FE1E79AEF5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6FEC8D1A-0283-722C-95D9-0EC5F9F1CAA7}"/>
              </a:ext>
            </a:extLst>
          </p:cNvPr>
          <p:cNvSpPr>
            <a:spLocks noGrp="1"/>
          </p:cNvSpPr>
          <p:nvPr>
            <p:ph type="dt" sz="half" idx="10"/>
          </p:nvPr>
        </p:nvSpPr>
        <p:spPr/>
        <p:txBody>
          <a:bodyPr/>
          <a:lstStyle/>
          <a:p>
            <a:fld id="{ADB280E0-1AD0-4140-A0DC-06FBDA9A52A0}" type="datetimeFigureOut">
              <a:rPr lang="en-SG" smtClean="0"/>
              <a:t>8/6/2025</a:t>
            </a:fld>
            <a:endParaRPr lang="en-SG"/>
          </a:p>
        </p:txBody>
      </p:sp>
      <p:sp>
        <p:nvSpPr>
          <p:cNvPr id="5" name="Footer Placeholder 4">
            <a:extLst>
              <a:ext uri="{FF2B5EF4-FFF2-40B4-BE49-F238E27FC236}">
                <a16:creationId xmlns:a16="http://schemas.microsoft.com/office/drawing/2014/main" id="{38EA9725-7A6C-A081-6DCB-709DA0FAF2B2}"/>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F3DE7524-28EE-5B09-4C35-A13850C1EBEE}"/>
              </a:ext>
            </a:extLst>
          </p:cNvPr>
          <p:cNvSpPr>
            <a:spLocks noGrp="1"/>
          </p:cNvSpPr>
          <p:nvPr>
            <p:ph type="sldNum" sz="quarter" idx="12"/>
          </p:nvPr>
        </p:nvSpPr>
        <p:spPr/>
        <p:txBody>
          <a:bodyPr/>
          <a:lstStyle/>
          <a:p>
            <a:fld id="{5819069A-560F-4852-97EF-9DCB13282D72}" type="slidenum">
              <a:rPr lang="en-SG" smtClean="0"/>
              <a:t>‹#›</a:t>
            </a:fld>
            <a:endParaRPr lang="en-SG"/>
          </a:p>
        </p:txBody>
      </p:sp>
    </p:spTree>
    <p:extLst>
      <p:ext uri="{BB962C8B-B14F-4D97-AF65-F5344CB8AC3E}">
        <p14:creationId xmlns:p14="http://schemas.microsoft.com/office/powerpoint/2010/main" val="3322844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1EE92-3701-7EFD-B0B6-DB6BCA7537E6}"/>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B542076C-F823-2D50-AC24-C74C8E144AA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5EAB7E68-E7C8-BFA4-3767-6667AE095575}"/>
              </a:ext>
            </a:extLst>
          </p:cNvPr>
          <p:cNvSpPr>
            <a:spLocks noGrp="1"/>
          </p:cNvSpPr>
          <p:nvPr>
            <p:ph type="dt" sz="half" idx="10"/>
          </p:nvPr>
        </p:nvSpPr>
        <p:spPr/>
        <p:txBody>
          <a:bodyPr/>
          <a:lstStyle/>
          <a:p>
            <a:fld id="{ADB280E0-1AD0-4140-A0DC-06FBDA9A52A0}" type="datetimeFigureOut">
              <a:rPr lang="en-SG" smtClean="0"/>
              <a:t>8/6/2025</a:t>
            </a:fld>
            <a:endParaRPr lang="en-SG"/>
          </a:p>
        </p:txBody>
      </p:sp>
      <p:sp>
        <p:nvSpPr>
          <p:cNvPr id="5" name="Footer Placeholder 4">
            <a:extLst>
              <a:ext uri="{FF2B5EF4-FFF2-40B4-BE49-F238E27FC236}">
                <a16:creationId xmlns:a16="http://schemas.microsoft.com/office/drawing/2014/main" id="{8165CC7E-AFE3-D5B1-916A-C4E25234EB7E}"/>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3CA30DE5-E4E2-24CA-B122-0A73B75EFD75}"/>
              </a:ext>
            </a:extLst>
          </p:cNvPr>
          <p:cNvSpPr>
            <a:spLocks noGrp="1"/>
          </p:cNvSpPr>
          <p:nvPr>
            <p:ph type="sldNum" sz="quarter" idx="12"/>
          </p:nvPr>
        </p:nvSpPr>
        <p:spPr/>
        <p:txBody>
          <a:bodyPr/>
          <a:lstStyle/>
          <a:p>
            <a:fld id="{5819069A-560F-4852-97EF-9DCB13282D72}" type="slidenum">
              <a:rPr lang="en-SG" smtClean="0"/>
              <a:t>‹#›</a:t>
            </a:fld>
            <a:endParaRPr lang="en-SG"/>
          </a:p>
        </p:txBody>
      </p:sp>
    </p:spTree>
    <p:extLst>
      <p:ext uri="{BB962C8B-B14F-4D97-AF65-F5344CB8AC3E}">
        <p14:creationId xmlns:p14="http://schemas.microsoft.com/office/powerpoint/2010/main" val="19130769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A2216-2A83-AB0B-EA79-7DF7DC280B4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EA7F9726-972D-D0A5-8E07-1FBF67B97E9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073A0B-A8DF-44AB-4C4D-4FB76338F871}"/>
              </a:ext>
            </a:extLst>
          </p:cNvPr>
          <p:cNvSpPr>
            <a:spLocks noGrp="1"/>
          </p:cNvSpPr>
          <p:nvPr>
            <p:ph type="dt" sz="half" idx="10"/>
          </p:nvPr>
        </p:nvSpPr>
        <p:spPr/>
        <p:txBody>
          <a:bodyPr/>
          <a:lstStyle/>
          <a:p>
            <a:fld id="{ADB280E0-1AD0-4140-A0DC-06FBDA9A52A0}" type="datetimeFigureOut">
              <a:rPr lang="en-SG" smtClean="0"/>
              <a:t>8/6/2025</a:t>
            </a:fld>
            <a:endParaRPr lang="en-SG"/>
          </a:p>
        </p:txBody>
      </p:sp>
      <p:sp>
        <p:nvSpPr>
          <p:cNvPr id="5" name="Footer Placeholder 4">
            <a:extLst>
              <a:ext uri="{FF2B5EF4-FFF2-40B4-BE49-F238E27FC236}">
                <a16:creationId xmlns:a16="http://schemas.microsoft.com/office/drawing/2014/main" id="{665D5E43-3C14-4C74-FC8A-A410512200EB}"/>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C97B81B3-30F2-F563-8639-7142409682ED}"/>
              </a:ext>
            </a:extLst>
          </p:cNvPr>
          <p:cNvSpPr>
            <a:spLocks noGrp="1"/>
          </p:cNvSpPr>
          <p:nvPr>
            <p:ph type="sldNum" sz="quarter" idx="12"/>
          </p:nvPr>
        </p:nvSpPr>
        <p:spPr/>
        <p:txBody>
          <a:bodyPr/>
          <a:lstStyle/>
          <a:p>
            <a:fld id="{5819069A-560F-4852-97EF-9DCB13282D72}" type="slidenum">
              <a:rPr lang="en-SG" smtClean="0"/>
              <a:t>‹#›</a:t>
            </a:fld>
            <a:endParaRPr lang="en-SG"/>
          </a:p>
        </p:txBody>
      </p:sp>
    </p:spTree>
    <p:extLst>
      <p:ext uri="{BB962C8B-B14F-4D97-AF65-F5344CB8AC3E}">
        <p14:creationId xmlns:p14="http://schemas.microsoft.com/office/powerpoint/2010/main" val="1130566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15A07-BEC9-3C7D-6098-808D163B64B7}"/>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E465A3BE-1912-7C5B-9438-397BAB71C1E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0068935B-8E32-2C2D-8BBC-01B40A5ADA8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9060581B-F770-8E74-AAB6-DAEC2AD47804}"/>
              </a:ext>
            </a:extLst>
          </p:cNvPr>
          <p:cNvSpPr>
            <a:spLocks noGrp="1"/>
          </p:cNvSpPr>
          <p:nvPr>
            <p:ph type="dt" sz="half" idx="10"/>
          </p:nvPr>
        </p:nvSpPr>
        <p:spPr/>
        <p:txBody>
          <a:bodyPr/>
          <a:lstStyle/>
          <a:p>
            <a:fld id="{ADB280E0-1AD0-4140-A0DC-06FBDA9A52A0}" type="datetimeFigureOut">
              <a:rPr lang="en-SG" smtClean="0"/>
              <a:t>8/6/2025</a:t>
            </a:fld>
            <a:endParaRPr lang="en-SG"/>
          </a:p>
        </p:txBody>
      </p:sp>
      <p:sp>
        <p:nvSpPr>
          <p:cNvPr id="6" name="Footer Placeholder 5">
            <a:extLst>
              <a:ext uri="{FF2B5EF4-FFF2-40B4-BE49-F238E27FC236}">
                <a16:creationId xmlns:a16="http://schemas.microsoft.com/office/drawing/2014/main" id="{3402B96E-F7E5-5F67-7E68-364DAFE504E0}"/>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78FA5B56-66DA-D459-4C22-4EA144041C79}"/>
              </a:ext>
            </a:extLst>
          </p:cNvPr>
          <p:cNvSpPr>
            <a:spLocks noGrp="1"/>
          </p:cNvSpPr>
          <p:nvPr>
            <p:ph type="sldNum" sz="quarter" idx="12"/>
          </p:nvPr>
        </p:nvSpPr>
        <p:spPr/>
        <p:txBody>
          <a:bodyPr/>
          <a:lstStyle/>
          <a:p>
            <a:fld id="{5819069A-560F-4852-97EF-9DCB13282D72}" type="slidenum">
              <a:rPr lang="en-SG" smtClean="0"/>
              <a:t>‹#›</a:t>
            </a:fld>
            <a:endParaRPr lang="en-SG"/>
          </a:p>
        </p:txBody>
      </p:sp>
    </p:spTree>
    <p:extLst>
      <p:ext uri="{BB962C8B-B14F-4D97-AF65-F5344CB8AC3E}">
        <p14:creationId xmlns:p14="http://schemas.microsoft.com/office/powerpoint/2010/main" val="30501520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B7CA8-208B-AE90-8698-5B003DA1EA19}"/>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305C10A1-F961-7323-1D31-9083E1F1E1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06A232B-7203-B3EF-CBB9-D5D7DB7A1BB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BAE046EE-8E86-5423-3ABC-5ECBFA16558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ED39B76-FD95-1A7D-7A11-BE62D61103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BEA51D25-937E-CF35-E12F-CB4932C2DFBA}"/>
              </a:ext>
            </a:extLst>
          </p:cNvPr>
          <p:cNvSpPr>
            <a:spLocks noGrp="1"/>
          </p:cNvSpPr>
          <p:nvPr>
            <p:ph type="dt" sz="half" idx="10"/>
          </p:nvPr>
        </p:nvSpPr>
        <p:spPr/>
        <p:txBody>
          <a:bodyPr/>
          <a:lstStyle/>
          <a:p>
            <a:fld id="{ADB280E0-1AD0-4140-A0DC-06FBDA9A52A0}" type="datetimeFigureOut">
              <a:rPr lang="en-SG" smtClean="0"/>
              <a:t>8/6/2025</a:t>
            </a:fld>
            <a:endParaRPr lang="en-SG"/>
          </a:p>
        </p:txBody>
      </p:sp>
      <p:sp>
        <p:nvSpPr>
          <p:cNvPr id="8" name="Footer Placeholder 7">
            <a:extLst>
              <a:ext uri="{FF2B5EF4-FFF2-40B4-BE49-F238E27FC236}">
                <a16:creationId xmlns:a16="http://schemas.microsoft.com/office/drawing/2014/main" id="{5ED76A0A-CD12-1764-1EC9-5BA57FABDB76}"/>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DC9496E6-E847-C396-7949-AE1E19632757}"/>
              </a:ext>
            </a:extLst>
          </p:cNvPr>
          <p:cNvSpPr>
            <a:spLocks noGrp="1"/>
          </p:cNvSpPr>
          <p:nvPr>
            <p:ph type="sldNum" sz="quarter" idx="12"/>
          </p:nvPr>
        </p:nvSpPr>
        <p:spPr/>
        <p:txBody>
          <a:bodyPr/>
          <a:lstStyle/>
          <a:p>
            <a:fld id="{5819069A-560F-4852-97EF-9DCB13282D72}" type="slidenum">
              <a:rPr lang="en-SG" smtClean="0"/>
              <a:t>‹#›</a:t>
            </a:fld>
            <a:endParaRPr lang="en-SG"/>
          </a:p>
        </p:txBody>
      </p:sp>
    </p:spTree>
    <p:extLst>
      <p:ext uri="{BB962C8B-B14F-4D97-AF65-F5344CB8AC3E}">
        <p14:creationId xmlns:p14="http://schemas.microsoft.com/office/powerpoint/2010/main" val="1704853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8A095-1CFD-6D31-F1D1-43B9A81C9835}"/>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7B467DF2-224D-1FBA-D0E7-DCDD9ACF39E2}"/>
              </a:ext>
            </a:extLst>
          </p:cNvPr>
          <p:cNvSpPr>
            <a:spLocks noGrp="1"/>
          </p:cNvSpPr>
          <p:nvPr>
            <p:ph type="dt" sz="half" idx="10"/>
          </p:nvPr>
        </p:nvSpPr>
        <p:spPr/>
        <p:txBody>
          <a:bodyPr/>
          <a:lstStyle/>
          <a:p>
            <a:fld id="{ADB280E0-1AD0-4140-A0DC-06FBDA9A52A0}" type="datetimeFigureOut">
              <a:rPr lang="en-SG" smtClean="0"/>
              <a:t>8/6/2025</a:t>
            </a:fld>
            <a:endParaRPr lang="en-SG"/>
          </a:p>
        </p:txBody>
      </p:sp>
      <p:sp>
        <p:nvSpPr>
          <p:cNvPr id="4" name="Footer Placeholder 3">
            <a:extLst>
              <a:ext uri="{FF2B5EF4-FFF2-40B4-BE49-F238E27FC236}">
                <a16:creationId xmlns:a16="http://schemas.microsoft.com/office/drawing/2014/main" id="{5FDD597E-C406-3DE9-1EEA-574B1213C5D8}"/>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28F72961-3AFB-10B1-5FE7-1E8ADE5066B5}"/>
              </a:ext>
            </a:extLst>
          </p:cNvPr>
          <p:cNvSpPr>
            <a:spLocks noGrp="1"/>
          </p:cNvSpPr>
          <p:nvPr>
            <p:ph type="sldNum" sz="quarter" idx="12"/>
          </p:nvPr>
        </p:nvSpPr>
        <p:spPr/>
        <p:txBody>
          <a:bodyPr/>
          <a:lstStyle/>
          <a:p>
            <a:fld id="{5819069A-560F-4852-97EF-9DCB13282D72}" type="slidenum">
              <a:rPr lang="en-SG" smtClean="0"/>
              <a:t>‹#›</a:t>
            </a:fld>
            <a:endParaRPr lang="en-SG"/>
          </a:p>
        </p:txBody>
      </p:sp>
    </p:spTree>
    <p:extLst>
      <p:ext uri="{BB962C8B-B14F-4D97-AF65-F5344CB8AC3E}">
        <p14:creationId xmlns:p14="http://schemas.microsoft.com/office/powerpoint/2010/main" val="489041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D34E91-22DC-6332-B755-7434FF5F37DF}"/>
              </a:ext>
            </a:extLst>
          </p:cNvPr>
          <p:cNvSpPr>
            <a:spLocks noGrp="1"/>
          </p:cNvSpPr>
          <p:nvPr>
            <p:ph type="dt" sz="half" idx="10"/>
          </p:nvPr>
        </p:nvSpPr>
        <p:spPr/>
        <p:txBody>
          <a:bodyPr/>
          <a:lstStyle/>
          <a:p>
            <a:fld id="{ADB280E0-1AD0-4140-A0DC-06FBDA9A52A0}" type="datetimeFigureOut">
              <a:rPr lang="en-SG" smtClean="0"/>
              <a:t>8/6/2025</a:t>
            </a:fld>
            <a:endParaRPr lang="en-SG"/>
          </a:p>
        </p:txBody>
      </p:sp>
      <p:sp>
        <p:nvSpPr>
          <p:cNvPr id="3" name="Footer Placeholder 2">
            <a:extLst>
              <a:ext uri="{FF2B5EF4-FFF2-40B4-BE49-F238E27FC236}">
                <a16:creationId xmlns:a16="http://schemas.microsoft.com/office/drawing/2014/main" id="{C9E6ABC0-52E7-774B-498A-79B464692AE8}"/>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A806B070-0BD2-CD50-4AB3-EA5D16825619}"/>
              </a:ext>
            </a:extLst>
          </p:cNvPr>
          <p:cNvSpPr>
            <a:spLocks noGrp="1"/>
          </p:cNvSpPr>
          <p:nvPr>
            <p:ph type="sldNum" sz="quarter" idx="12"/>
          </p:nvPr>
        </p:nvSpPr>
        <p:spPr/>
        <p:txBody>
          <a:bodyPr/>
          <a:lstStyle/>
          <a:p>
            <a:fld id="{5819069A-560F-4852-97EF-9DCB13282D72}" type="slidenum">
              <a:rPr lang="en-SG" smtClean="0"/>
              <a:t>‹#›</a:t>
            </a:fld>
            <a:endParaRPr lang="en-SG"/>
          </a:p>
        </p:txBody>
      </p:sp>
    </p:spTree>
    <p:extLst>
      <p:ext uri="{BB962C8B-B14F-4D97-AF65-F5344CB8AC3E}">
        <p14:creationId xmlns:p14="http://schemas.microsoft.com/office/powerpoint/2010/main" val="39128330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AE052-9BD2-F865-87A7-D90FC59CD4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8C2D6B62-3F5B-B1EA-42F1-3D4A266D29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7AC36E4B-2F26-B850-B2DE-A9817C9211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0425E0-11B6-ABB5-7F97-4A5F233A78A2}"/>
              </a:ext>
            </a:extLst>
          </p:cNvPr>
          <p:cNvSpPr>
            <a:spLocks noGrp="1"/>
          </p:cNvSpPr>
          <p:nvPr>
            <p:ph type="dt" sz="half" idx="10"/>
          </p:nvPr>
        </p:nvSpPr>
        <p:spPr/>
        <p:txBody>
          <a:bodyPr/>
          <a:lstStyle/>
          <a:p>
            <a:fld id="{ADB280E0-1AD0-4140-A0DC-06FBDA9A52A0}" type="datetimeFigureOut">
              <a:rPr lang="en-SG" smtClean="0"/>
              <a:t>8/6/2025</a:t>
            </a:fld>
            <a:endParaRPr lang="en-SG"/>
          </a:p>
        </p:txBody>
      </p:sp>
      <p:sp>
        <p:nvSpPr>
          <p:cNvPr id="6" name="Footer Placeholder 5">
            <a:extLst>
              <a:ext uri="{FF2B5EF4-FFF2-40B4-BE49-F238E27FC236}">
                <a16:creationId xmlns:a16="http://schemas.microsoft.com/office/drawing/2014/main" id="{CCAB5073-FA27-6C9E-DBCA-A6183316AA18}"/>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C8273426-9753-ACED-B2FC-4B5DCA0823CF}"/>
              </a:ext>
            </a:extLst>
          </p:cNvPr>
          <p:cNvSpPr>
            <a:spLocks noGrp="1"/>
          </p:cNvSpPr>
          <p:nvPr>
            <p:ph type="sldNum" sz="quarter" idx="12"/>
          </p:nvPr>
        </p:nvSpPr>
        <p:spPr/>
        <p:txBody>
          <a:bodyPr/>
          <a:lstStyle/>
          <a:p>
            <a:fld id="{5819069A-560F-4852-97EF-9DCB13282D72}" type="slidenum">
              <a:rPr lang="en-SG" smtClean="0"/>
              <a:t>‹#›</a:t>
            </a:fld>
            <a:endParaRPr lang="en-SG"/>
          </a:p>
        </p:txBody>
      </p:sp>
    </p:spTree>
    <p:extLst>
      <p:ext uri="{BB962C8B-B14F-4D97-AF65-F5344CB8AC3E}">
        <p14:creationId xmlns:p14="http://schemas.microsoft.com/office/powerpoint/2010/main" val="36238834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A185B-A8C9-839E-8C2F-920E0F5CB5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C90CB24A-6CD0-786D-9B7E-4CEE44C1465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05410092-F6A3-6F89-5D21-CAD5F5AAAF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A12963-BCBF-E8E3-F781-76B52BC5A879}"/>
              </a:ext>
            </a:extLst>
          </p:cNvPr>
          <p:cNvSpPr>
            <a:spLocks noGrp="1"/>
          </p:cNvSpPr>
          <p:nvPr>
            <p:ph type="dt" sz="half" idx="10"/>
          </p:nvPr>
        </p:nvSpPr>
        <p:spPr/>
        <p:txBody>
          <a:bodyPr/>
          <a:lstStyle/>
          <a:p>
            <a:fld id="{ADB280E0-1AD0-4140-A0DC-06FBDA9A52A0}" type="datetimeFigureOut">
              <a:rPr lang="en-SG" smtClean="0"/>
              <a:t>8/6/2025</a:t>
            </a:fld>
            <a:endParaRPr lang="en-SG"/>
          </a:p>
        </p:txBody>
      </p:sp>
      <p:sp>
        <p:nvSpPr>
          <p:cNvPr id="6" name="Footer Placeholder 5">
            <a:extLst>
              <a:ext uri="{FF2B5EF4-FFF2-40B4-BE49-F238E27FC236}">
                <a16:creationId xmlns:a16="http://schemas.microsoft.com/office/drawing/2014/main" id="{9B31ACD6-3A32-F023-5EEA-B994FA53F7CF}"/>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A7BD00F2-3241-9BDA-2395-ADE1A7AB4848}"/>
              </a:ext>
            </a:extLst>
          </p:cNvPr>
          <p:cNvSpPr>
            <a:spLocks noGrp="1"/>
          </p:cNvSpPr>
          <p:nvPr>
            <p:ph type="sldNum" sz="quarter" idx="12"/>
          </p:nvPr>
        </p:nvSpPr>
        <p:spPr/>
        <p:txBody>
          <a:bodyPr/>
          <a:lstStyle/>
          <a:p>
            <a:fld id="{5819069A-560F-4852-97EF-9DCB13282D72}" type="slidenum">
              <a:rPr lang="en-SG" smtClean="0"/>
              <a:t>‹#›</a:t>
            </a:fld>
            <a:endParaRPr lang="en-SG"/>
          </a:p>
        </p:txBody>
      </p:sp>
    </p:spTree>
    <p:extLst>
      <p:ext uri="{BB962C8B-B14F-4D97-AF65-F5344CB8AC3E}">
        <p14:creationId xmlns:p14="http://schemas.microsoft.com/office/powerpoint/2010/main" val="24580882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F8152-2E71-0758-14F7-5BCB4121B343}"/>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0C69964F-94E6-0AA8-B8EA-F628EF4293E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2505BEEE-FCEC-66A5-98B2-E6377D395FEC}"/>
              </a:ext>
            </a:extLst>
          </p:cNvPr>
          <p:cNvSpPr>
            <a:spLocks noGrp="1"/>
          </p:cNvSpPr>
          <p:nvPr>
            <p:ph type="dt" sz="half" idx="10"/>
          </p:nvPr>
        </p:nvSpPr>
        <p:spPr/>
        <p:txBody>
          <a:bodyPr/>
          <a:lstStyle/>
          <a:p>
            <a:fld id="{ADB280E0-1AD0-4140-A0DC-06FBDA9A52A0}" type="datetimeFigureOut">
              <a:rPr lang="en-SG" smtClean="0"/>
              <a:t>8/6/2025</a:t>
            </a:fld>
            <a:endParaRPr lang="en-SG"/>
          </a:p>
        </p:txBody>
      </p:sp>
      <p:sp>
        <p:nvSpPr>
          <p:cNvPr id="5" name="Footer Placeholder 4">
            <a:extLst>
              <a:ext uri="{FF2B5EF4-FFF2-40B4-BE49-F238E27FC236}">
                <a16:creationId xmlns:a16="http://schemas.microsoft.com/office/drawing/2014/main" id="{43701889-8508-40D4-0576-EE6CBFF2B3F3}"/>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52EA3AC7-0D5C-2A24-88B8-7E285996EC7E}"/>
              </a:ext>
            </a:extLst>
          </p:cNvPr>
          <p:cNvSpPr>
            <a:spLocks noGrp="1"/>
          </p:cNvSpPr>
          <p:nvPr>
            <p:ph type="sldNum" sz="quarter" idx="12"/>
          </p:nvPr>
        </p:nvSpPr>
        <p:spPr/>
        <p:txBody>
          <a:bodyPr/>
          <a:lstStyle/>
          <a:p>
            <a:fld id="{5819069A-560F-4852-97EF-9DCB13282D72}" type="slidenum">
              <a:rPr lang="en-SG" smtClean="0"/>
              <a:t>‹#›</a:t>
            </a:fld>
            <a:endParaRPr lang="en-SG"/>
          </a:p>
        </p:txBody>
      </p:sp>
    </p:spTree>
    <p:extLst>
      <p:ext uri="{BB962C8B-B14F-4D97-AF65-F5344CB8AC3E}">
        <p14:creationId xmlns:p14="http://schemas.microsoft.com/office/powerpoint/2010/main" val="13193004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FC3974-5593-31B9-76F4-A5CBAE4A113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943BD2EA-05E6-FE30-BBD9-B78C26EBD6B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188E522E-D7DB-EC27-ABDE-EC05E068577C}"/>
              </a:ext>
            </a:extLst>
          </p:cNvPr>
          <p:cNvSpPr>
            <a:spLocks noGrp="1"/>
          </p:cNvSpPr>
          <p:nvPr>
            <p:ph type="dt" sz="half" idx="10"/>
          </p:nvPr>
        </p:nvSpPr>
        <p:spPr/>
        <p:txBody>
          <a:bodyPr/>
          <a:lstStyle/>
          <a:p>
            <a:fld id="{ADB280E0-1AD0-4140-A0DC-06FBDA9A52A0}" type="datetimeFigureOut">
              <a:rPr lang="en-SG" smtClean="0"/>
              <a:t>8/6/2025</a:t>
            </a:fld>
            <a:endParaRPr lang="en-SG"/>
          </a:p>
        </p:txBody>
      </p:sp>
      <p:sp>
        <p:nvSpPr>
          <p:cNvPr id="5" name="Footer Placeholder 4">
            <a:extLst>
              <a:ext uri="{FF2B5EF4-FFF2-40B4-BE49-F238E27FC236}">
                <a16:creationId xmlns:a16="http://schemas.microsoft.com/office/drawing/2014/main" id="{123CBA5F-F90A-A959-2A67-322BB7AB0251}"/>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D2094B8D-7405-83F1-D84E-4197A9C2CE75}"/>
              </a:ext>
            </a:extLst>
          </p:cNvPr>
          <p:cNvSpPr>
            <a:spLocks noGrp="1"/>
          </p:cNvSpPr>
          <p:nvPr>
            <p:ph type="sldNum" sz="quarter" idx="12"/>
          </p:nvPr>
        </p:nvSpPr>
        <p:spPr/>
        <p:txBody>
          <a:bodyPr/>
          <a:lstStyle/>
          <a:p>
            <a:fld id="{5819069A-560F-4852-97EF-9DCB13282D72}" type="slidenum">
              <a:rPr lang="en-SG" smtClean="0"/>
              <a:t>‹#›</a:t>
            </a:fld>
            <a:endParaRPr lang="en-SG"/>
          </a:p>
        </p:txBody>
      </p:sp>
    </p:spTree>
    <p:extLst>
      <p:ext uri="{BB962C8B-B14F-4D97-AF65-F5344CB8AC3E}">
        <p14:creationId xmlns:p14="http://schemas.microsoft.com/office/powerpoint/2010/main" val="34312839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3843919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_1">
  <p:cSld name="BLANK_1">
    <p:spTree>
      <p:nvGrpSpPr>
        <p:cNvPr id="1" name="Shape 297"/>
        <p:cNvGrpSpPr/>
        <p:nvPr/>
      </p:nvGrpSpPr>
      <p:grpSpPr>
        <a:xfrm>
          <a:off x="0" y="0"/>
          <a:ext cx="0" cy="0"/>
          <a:chOff x="0" y="0"/>
          <a:chExt cx="0" cy="0"/>
        </a:xfrm>
      </p:grpSpPr>
      <p:sp>
        <p:nvSpPr>
          <p:cNvPr id="298" name="Google Shape;298;p4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968522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27A29F-D0BC-1050-146D-0EB3D5693E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64945FAB-F4C2-A274-932F-BEC4E68284C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04250A15-76FE-31D6-EC65-C0622CECB4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B280E0-1AD0-4140-A0DC-06FBDA9A52A0}" type="datetimeFigureOut">
              <a:rPr lang="en-SG" smtClean="0"/>
              <a:t>8/6/2025</a:t>
            </a:fld>
            <a:endParaRPr lang="en-SG"/>
          </a:p>
        </p:txBody>
      </p:sp>
      <p:sp>
        <p:nvSpPr>
          <p:cNvPr id="5" name="Footer Placeholder 4">
            <a:extLst>
              <a:ext uri="{FF2B5EF4-FFF2-40B4-BE49-F238E27FC236}">
                <a16:creationId xmlns:a16="http://schemas.microsoft.com/office/drawing/2014/main" id="{951E7D67-7309-E9F0-AE60-933967156BF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a:extLst>
              <a:ext uri="{FF2B5EF4-FFF2-40B4-BE49-F238E27FC236}">
                <a16:creationId xmlns:a16="http://schemas.microsoft.com/office/drawing/2014/main" id="{FA359637-183A-D968-74AE-7EF8D92826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19069A-560F-4852-97EF-9DCB13282D72}" type="slidenum">
              <a:rPr lang="en-SG" smtClean="0"/>
              <a:t>‹#›</a:t>
            </a:fld>
            <a:endParaRPr lang="en-SG"/>
          </a:p>
        </p:txBody>
      </p:sp>
    </p:spTree>
    <p:extLst>
      <p:ext uri="{BB962C8B-B14F-4D97-AF65-F5344CB8AC3E}">
        <p14:creationId xmlns:p14="http://schemas.microsoft.com/office/powerpoint/2010/main" val="26729095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alpha val="43000"/>
          </a:schemeClr>
        </a:solidFill>
        <a:effectLst/>
      </p:bgPr>
    </p:bg>
    <p:spTree>
      <p:nvGrpSpPr>
        <p:cNvPr id="1" name="Shape 452"/>
        <p:cNvGrpSpPr/>
        <p:nvPr/>
      </p:nvGrpSpPr>
      <p:grpSpPr>
        <a:xfrm>
          <a:off x="0" y="0"/>
          <a:ext cx="0" cy="0"/>
          <a:chOff x="0" y="0"/>
          <a:chExt cx="0" cy="0"/>
        </a:xfrm>
      </p:grpSpPr>
      <p:sp>
        <p:nvSpPr>
          <p:cNvPr id="453" name="Google Shape;453;p64"/>
          <p:cNvSpPr txBox="1"/>
          <p:nvPr/>
        </p:nvSpPr>
        <p:spPr>
          <a:xfrm>
            <a:off x="2743200" y="840551"/>
            <a:ext cx="5692800" cy="3139089"/>
          </a:xfrm>
          <a:prstGeom prst="rect">
            <a:avLst/>
          </a:prstGeom>
          <a:noFill/>
          <a:ln>
            <a:noFill/>
          </a:ln>
        </p:spPr>
        <p:txBody>
          <a:bodyPr spcFirstLastPara="1" wrap="square" lIns="121900" tIns="121900" rIns="121900" bIns="1219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4933"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Week 14 Team IIP Reflection Video</a:t>
            </a:r>
            <a:br>
              <a:rPr kumimoji="0" lang="en" sz="4933"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br>
            <a:endParaRPr kumimoji="0" sz="4933"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40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D2</a:t>
            </a:r>
            <a:endParaRPr kumimoji="0" sz="40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 name="TextBox 8">
            <a:extLst>
              <a:ext uri="{FF2B5EF4-FFF2-40B4-BE49-F238E27FC236}">
                <a16:creationId xmlns:a16="http://schemas.microsoft.com/office/drawing/2014/main" id="{00BE3448-EB80-C6C5-17A6-7B6A7B8A1C42}"/>
              </a:ext>
            </a:extLst>
          </p:cNvPr>
          <p:cNvSpPr txBox="1"/>
          <p:nvPr/>
        </p:nvSpPr>
        <p:spPr>
          <a:xfrm>
            <a:off x="2541600" y="4269676"/>
            <a:ext cx="6096000" cy="147732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1"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Afsheen</a:t>
            </a:r>
            <a:r>
              <a:rPr kumimoji="0" lang="en-SG"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Shakoor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Lokesh Garg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1"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Ryoma</a:t>
            </a:r>
            <a:r>
              <a:rPr kumimoji="0" lang="en-SG"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Machida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Victoria Tan </a:t>
            </a:r>
            <a:r>
              <a:rPr kumimoji="0" lang="en-SG" sz="1800" b="1"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Zhaozhi</a:t>
            </a:r>
            <a:endParaRPr kumimoji="0" lang="en-SG"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Xie </a:t>
            </a:r>
            <a:r>
              <a:rPr kumimoji="0" lang="en-SG" sz="1800" b="1"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Yunfeng</a:t>
            </a:r>
            <a:r>
              <a:rPr kumimoji="0" lang="en-SG"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p>
        </p:txBody>
      </p:sp>
    </p:spTree>
  </p:cSld>
  <p:clrMapOvr>
    <a:masterClrMapping/>
  </p:clrMapOvr>
  <mc:AlternateContent xmlns:mc="http://schemas.openxmlformats.org/markup-compatibility/2006" xmlns:p14="http://schemas.microsoft.com/office/powerpoint/2010/main">
    <mc:Choice Requires="p14">
      <p:transition spd="slow" p14:dur="2000" advTm="4995"/>
    </mc:Choice>
    <mc:Fallback xmlns="">
      <p:transition spd="slow" advTm="4995"/>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65"/>
          <p:cNvSpPr txBox="1">
            <a:spLocks noGrp="1"/>
          </p:cNvSpPr>
          <p:nvPr>
            <p:ph type="title" idx="4294967295"/>
          </p:nvPr>
        </p:nvSpPr>
        <p:spPr>
          <a:xfrm>
            <a:off x="282367" y="365633"/>
            <a:ext cx="4950000" cy="5852000"/>
          </a:xfrm>
          <a:prstGeom prst="rect">
            <a:avLst/>
          </a:prstGeom>
        </p:spPr>
        <p:txBody>
          <a:bodyPr spcFirstLastPara="1" vert="horz" wrap="square" lIns="121900" tIns="121900" rIns="121900" bIns="121900" rtlCol="0" anchor="t" anchorCtr="0">
            <a:noAutofit/>
          </a:bodyPr>
          <a:lstStyle/>
          <a:p>
            <a:pPr>
              <a:spcBef>
                <a:spcPts val="0"/>
              </a:spcBef>
              <a:buClr>
                <a:schemeClr val="dk1"/>
              </a:buClr>
              <a:buSzPts val="1100"/>
            </a:pPr>
            <a:r>
              <a:rPr lang="en" sz="3800" b="1" dirty="0">
                <a:latin typeface="Arial" panose="020B0604020202020204" pitchFamily="34" charset="0"/>
                <a:cs typeface="Arial" panose="020B0604020202020204" pitchFamily="34" charset="0"/>
              </a:rPr>
              <a:t>Tackling Mental Health Challenges</a:t>
            </a:r>
            <a:r>
              <a:rPr lang="en" sz="3467" dirty="0">
                <a:latin typeface="Arial" panose="020B0604020202020204" pitchFamily="34" charset="0"/>
                <a:cs typeface="Arial" panose="020B0604020202020204" pitchFamily="34" charset="0"/>
              </a:rPr>
              <a:t/>
            </a:r>
            <a:br>
              <a:rPr lang="en" sz="3467" dirty="0">
                <a:latin typeface="Arial" panose="020B0604020202020204" pitchFamily="34" charset="0"/>
                <a:cs typeface="Arial" panose="020B0604020202020204" pitchFamily="34" charset="0"/>
              </a:rPr>
            </a:br>
            <a:r>
              <a:rPr lang="en" sz="3467" dirty="0">
                <a:latin typeface="Arial" panose="020B0604020202020204" pitchFamily="34" charset="0"/>
                <a:cs typeface="Arial" panose="020B0604020202020204" pitchFamily="34" charset="0"/>
              </a:rPr>
              <a:t/>
            </a:r>
            <a:br>
              <a:rPr lang="en" sz="3467" dirty="0">
                <a:latin typeface="Arial" panose="020B0604020202020204" pitchFamily="34" charset="0"/>
                <a:cs typeface="Arial" panose="020B0604020202020204" pitchFamily="34" charset="0"/>
              </a:rPr>
            </a:br>
            <a:endParaRPr sz="3467" dirty="0">
              <a:latin typeface="Arial" panose="020B0604020202020204" pitchFamily="34" charset="0"/>
              <a:cs typeface="Arial" panose="020B0604020202020204" pitchFamily="34" charset="0"/>
            </a:endParaRPr>
          </a:p>
          <a:p>
            <a:pPr marL="609585">
              <a:spcBef>
                <a:spcPts val="0"/>
              </a:spcBef>
            </a:pPr>
            <a:r>
              <a:rPr lang="en" sz="3200" dirty="0">
                <a:latin typeface="Arial" panose="020B0604020202020204" pitchFamily="34" charset="0"/>
                <a:cs typeface="Arial" panose="020B0604020202020204" pitchFamily="34" charset="0"/>
              </a:rPr>
              <a:t>Addressing stress through accessible mental health tools </a:t>
            </a:r>
            <a:br>
              <a:rPr lang="en" sz="3200" dirty="0">
                <a:latin typeface="Arial" panose="020B0604020202020204" pitchFamily="34" charset="0"/>
                <a:cs typeface="Arial" panose="020B0604020202020204" pitchFamily="34" charset="0"/>
              </a:rPr>
            </a:br>
            <a:r>
              <a:rPr lang="en" sz="3200" dirty="0">
                <a:latin typeface="Arial" panose="020B0604020202020204" pitchFamily="34" charset="0"/>
                <a:cs typeface="Arial" panose="020B0604020202020204" pitchFamily="34" charset="0"/>
              </a:rPr>
              <a:t>for high school students.</a:t>
            </a:r>
            <a:endParaRPr sz="3200" dirty="0">
              <a:latin typeface="Arial" panose="020B0604020202020204" pitchFamily="34" charset="0"/>
              <a:cs typeface="Arial" panose="020B0604020202020204" pitchFamily="34" charset="0"/>
            </a:endParaRPr>
          </a:p>
        </p:txBody>
      </p:sp>
      <p:pic>
        <p:nvPicPr>
          <p:cNvPr id="459" name="Google Shape;459;p65"/>
          <p:cNvPicPr preferRelativeResize="0"/>
          <p:nvPr/>
        </p:nvPicPr>
        <p:blipFill>
          <a:blip r:embed="rId3">
            <a:alphaModFix/>
          </a:blip>
          <a:stretch>
            <a:fillRect/>
          </a:stretch>
        </p:blipFill>
        <p:spPr>
          <a:xfrm>
            <a:off x="5334001" y="1"/>
            <a:ext cx="6858001" cy="6858001"/>
          </a:xfrm>
          <a:prstGeom prst="rect">
            <a:avLst/>
          </a:prstGeom>
          <a:noFill/>
          <a:ln>
            <a:noFill/>
          </a:ln>
        </p:spPr>
      </p:pic>
      <p:sp>
        <p:nvSpPr>
          <p:cNvPr id="460" name="Google Shape;460;p65"/>
          <p:cNvSpPr txBox="1"/>
          <p:nvPr/>
        </p:nvSpPr>
        <p:spPr>
          <a:xfrm>
            <a:off x="1773433" y="6492367"/>
            <a:ext cx="4798400" cy="450000"/>
          </a:xfrm>
          <a:prstGeom prst="rect">
            <a:avLst/>
          </a:prstGeom>
          <a:noFill/>
          <a:ln>
            <a:noFill/>
          </a:ln>
        </p:spPr>
        <p:txBody>
          <a:bodyPr spcFirstLastPara="1" wrap="square" lIns="121900" tIns="121900" rIns="121900" bIns="121900" anchor="t" anchorCtr="0">
            <a:noAutofit/>
          </a:bodyPr>
          <a:lstStyle/>
          <a:p>
            <a:r>
              <a:rPr lang="en" sz="1200">
                <a:solidFill>
                  <a:schemeClr val="tx1">
                    <a:lumMod val="50000"/>
                    <a:lumOff val="50000"/>
                  </a:schemeClr>
                </a:solidFill>
                <a:latin typeface="Inter"/>
                <a:ea typeface="Inter"/>
                <a:cs typeface="Inter"/>
                <a:sym typeface="Inter"/>
              </a:rPr>
              <a:t>“Students in an academic setting” by Chat GPT image</a:t>
            </a:r>
            <a:endParaRPr sz="1200">
              <a:solidFill>
                <a:schemeClr val="tx1">
                  <a:lumMod val="50000"/>
                  <a:lumOff val="50000"/>
                </a:schemeClr>
              </a:solidFill>
              <a:latin typeface="Inter"/>
              <a:ea typeface="Inter"/>
              <a:cs typeface="Inter"/>
              <a:sym typeface="Inter"/>
            </a:endParaRPr>
          </a:p>
        </p:txBody>
      </p:sp>
    </p:spTree>
  </p:cSld>
  <p:clrMapOvr>
    <a:masterClrMapping/>
  </p:clrMapOvr>
  <mc:AlternateContent xmlns:mc="http://schemas.openxmlformats.org/markup-compatibility/2006" xmlns:p14="http://schemas.microsoft.com/office/powerpoint/2010/main">
    <mc:Choice Requires="p14">
      <p:transition spd="slow" p14:dur="2000" advTm="35074"/>
    </mc:Choice>
    <mc:Fallback xmlns="">
      <p:transition spd="slow" advTm="35074"/>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5E2B2-6F76-1F5A-5D31-61723F7CD48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4986B3CE-11D3-6D43-5179-C7E5A3204C53}"/>
              </a:ext>
            </a:extLst>
          </p:cNvPr>
          <p:cNvSpPr/>
          <p:nvPr/>
        </p:nvSpPr>
        <p:spPr>
          <a:xfrm>
            <a:off x="570270" y="2858450"/>
            <a:ext cx="9026013" cy="449274"/>
          </a:xfrm>
          <a:prstGeom prst="rect">
            <a:avLst/>
          </a:prstGeom>
          <a:solidFill>
            <a:schemeClr val="accent1">
              <a:lumMod val="50000"/>
            </a:schemeClr>
          </a:solidFill>
          <a:ln w="381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3" name="Picture 2">
            <a:extLst>
              <a:ext uri="{FF2B5EF4-FFF2-40B4-BE49-F238E27FC236}">
                <a16:creationId xmlns:a16="http://schemas.microsoft.com/office/drawing/2014/main" id="{0CE3405B-780A-4F26-7B21-D43A1AE88ADC}"/>
              </a:ext>
            </a:extLst>
          </p:cNvPr>
          <p:cNvPicPr>
            <a:picLocks noChangeAspect="1"/>
          </p:cNvPicPr>
          <p:nvPr/>
        </p:nvPicPr>
        <p:blipFill>
          <a:blip r:embed="rId3"/>
          <a:srcRect l="30384" t="23649" r="731" b="17935"/>
          <a:stretch/>
        </p:blipFill>
        <p:spPr>
          <a:xfrm>
            <a:off x="792711" y="3726157"/>
            <a:ext cx="8305819" cy="2553928"/>
          </a:xfrm>
          <a:prstGeom prst="rect">
            <a:avLst/>
          </a:prstGeom>
        </p:spPr>
      </p:pic>
      <p:sp>
        <p:nvSpPr>
          <p:cNvPr id="2" name="Rectangle 1">
            <a:extLst>
              <a:ext uri="{FF2B5EF4-FFF2-40B4-BE49-F238E27FC236}">
                <a16:creationId xmlns:a16="http://schemas.microsoft.com/office/drawing/2014/main" id="{4DE7A10E-E8EB-737B-1F08-6A814A3857DB}"/>
              </a:ext>
            </a:extLst>
          </p:cNvPr>
          <p:cNvSpPr/>
          <p:nvPr/>
        </p:nvSpPr>
        <p:spPr>
          <a:xfrm>
            <a:off x="570270" y="3417437"/>
            <a:ext cx="9026013" cy="2961967"/>
          </a:xfrm>
          <a:prstGeom prst="rect">
            <a:avLst/>
          </a:prstGeom>
          <a:noFill/>
          <a:ln w="381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 name="TextBox 3">
            <a:extLst>
              <a:ext uri="{FF2B5EF4-FFF2-40B4-BE49-F238E27FC236}">
                <a16:creationId xmlns:a16="http://schemas.microsoft.com/office/drawing/2014/main" id="{D856D814-2409-1D7E-73EE-F4F06DC9B8C4}"/>
              </a:ext>
            </a:extLst>
          </p:cNvPr>
          <p:cNvSpPr txBox="1"/>
          <p:nvPr/>
        </p:nvSpPr>
        <p:spPr>
          <a:xfrm>
            <a:off x="570270" y="2878342"/>
            <a:ext cx="9026013" cy="400110"/>
          </a:xfrm>
          <a:prstGeom prst="rect">
            <a:avLst/>
          </a:prstGeom>
          <a:noFill/>
        </p:spPr>
        <p:txBody>
          <a:bodyPr wrap="square" rtlCol="0">
            <a:spAutoFit/>
          </a:bodyPr>
          <a:lstStyle/>
          <a:p>
            <a:pPr algn="ctr"/>
            <a:r>
              <a:rPr lang="en-US" sz="2000" b="1" dirty="0">
                <a:solidFill>
                  <a:schemeClr val="bg1"/>
                </a:solidFill>
                <a:latin typeface="Arial" panose="020B0604020202020204" pitchFamily="34" charset="0"/>
                <a:cs typeface="Arial" panose="020B0604020202020204" pitchFamily="34" charset="0"/>
              </a:rPr>
              <a:t>POV Statement</a:t>
            </a:r>
            <a:endParaRPr lang="en-SG" sz="2000" b="1" dirty="0">
              <a:solidFill>
                <a:schemeClr val="bg1"/>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39017056-4509-AA51-EE53-6B6331165627}"/>
              </a:ext>
            </a:extLst>
          </p:cNvPr>
          <p:cNvSpPr txBox="1"/>
          <p:nvPr/>
        </p:nvSpPr>
        <p:spPr>
          <a:xfrm>
            <a:off x="255638" y="270180"/>
            <a:ext cx="9193161" cy="523220"/>
          </a:xfrm>
          <a:prstGeom prst="rect">
            <a:avLst/>
          </a:prstGeom>
          <a:noFill/>
        </p:spPr>
        <p:txBody>
          <a:bodyPr wrap="square" rtlCol="0">
            <a:spAutoFit/>
          </a:bodyPr>
          <a:lstStyle/>
          <a:p>
            <a:r>
              <a:rPr lang="en-US" sz="2800" b="1" dirty="0">
                <a:latin typeface="Arial" panose="020B0604020202020204" pitchFamily="34" charset="0"/>
                <a:cs typeface="Arial" panose="020B0604020202020204" pitchFamily="34" charset="0"/>
              </a:rPr>
              <a:t>Learning Moment 1: Reframing POV to HMW</a:t>
            </a:r>
            <a:endParaRPr lang="en-SG" sz="2800" b="1"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07865EEB-B500-0EED-B6BB-90135F43C7A7}"/>
              </a:ext>
            </a:extLst>
          </p:cNvPr>
          <p:cNvSpPr txBox="1"/>
          <p:nvPr/>
        </p:nvSpPr>
        <p:spPr>
          <a:xfrm>
            <a:off x="285132" y="1081548"/>
            <a:ext cx="9615947" cy="1323439"/>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Initial POV targeted all students; debates led to narrowing the focus to high school students. </a:t>
            </a:r>
          </a:p>
          <a:p>
            <a:endParaRPr lang="en-US" sz="1600" dirty="0">
              <a:latin typeface="Arial" panose="020B0604020202020204" pitchFamily="34" charset="0"/>
              <a:cs typeface="Arial" panose="020B0604020202020204" pitchFamily="34" charset="0"/>
            </a:endParaRPr>
          </a:p>
          <a:p>
            <a:r>
              <a:rPr lang="en-US" sz="1600" b="1" dirty="0">
                <a:latin typeface="Arial" panose="020B0604020202020204" pitchFamily="34" charset="0"/>
                <a:cs typeface="Arial" panose="020B0604020202020204" pitchFamily="34" charset="0"/>
              </a:rPr>
              <a:t>Tradeoff: </a:t>
            </a:r>
            <a:r>
              <a:rPr lang="en-US" sz="1600" dirty="0">
                <a:latin typeface="Arial" panose="020B0604020202020204" pitchFamily="34" charset="0"/>
                <a:cs typeface="Arial" panose="020B0604020202020204" pitchFamily="34" charset="0"/>
              </a:rPr>
              <a:t>Broader reach vs. tailored feasibility</a:t>
            </a:r>
          </a:p>
          <a:p>
            <a:endParaRPr lang="en-US" sz="1600" dirty="0">
              <a:latin typeface="Arial" panose="020B0604020202020204" pitchFamily="34" charset="0"/>
              <a:cs typeface="Arial" panose="020B0604020202020204" pitchFamily="34" charset="0"/>
            </a:endParaRPr>
          </a:p>
          <a:p>
            <a:r>
              <a:rPr lang="en-US" sz="1600" b="1" dirty="0">
                <a:latin typeface="Arial" panose="020B0604020202020204" pitchFamily="34" charset="0"/>
                <a:cs typeface="Arial" panose="020B0604020202020204" pitchFamily="34" charset="0"/>
              </a:rPr>
              <a:t>Decision: </a:t>
            </a:r>
            <a:r>
              <a:rPr lang="en-US" sz="1600" dirty="0">
                <a:latin typeface="Arial" panose="020B0604020202020204" pitchFamily="34" charset="0"/>
                <a:cs typeface="Arial" panose="020B0604020202020204" pitchFamily="34" charset="0"/>
              </a:rPr>
              <a:t>Target high school students for relevance and practicality. </a:t>
            </a:r>
            <a:endParaRPr lang="en-SG"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65879382"/>
      </p:ext>
    </p:extLst>
  </p:cSld>
  <p:clrMapOvr>
    <a:masterClrMapping/>
  </p:clrMapOvr>
  <mc:AlternateContent xmlns:mc="http://schemas.openxmlformats.org/markup-compatibility/2006" xmlns:p14="http://schemas.microsoft.com/office/powerpoint/2010/main">
    <mc:Choice Requires="p14">
      <p:transition spd="slow" p14:dur="2000" advTm="32280"/>
    </mc:Choice>
    <mc:Fallback xmlns="">
      <p:transition spd="slow" advTm="32280"/>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7770692-4593-DDEC-C0AD-3DFD00ADDF3F}"/>
              </a:ext>
            </a:extLst>
          </p:cNvPr>
          <p:cNvPicPr>
            <a:picLocks noChangeAspect="1"/>
          </p:cNvPicPr>
          <p:nvPr/>
        </p:nvPicPr>
        <p:blipFill>
          <a:blip r:embed="rId3"/>
          <a:srcRect l="1426" t="21006" r="39702" b="29667"/>
          <a:stretch/>
        </p:blipFill>
        <p:spPr>
          <a:xfrm>
            <a:off x="356515" y="1984693"/>
            <a:ext cx="5574182" cy="2201722"/>
          </a:xfrm>
          <a:prstGeom prst="rect">
            <a:avLst/>
          </a:prstGeom>
          <a:ln w="28575">
            <a:solidFill>
              <a:schemeClr val="accent1">
                <a:lumMod val="50000"/>
              </a:schemeClr>
            </a:solidFill>
          </a:ln>
        </p:spPr>
      </p:pic>
      <p:pic>
        <p:nvPicPr>
          <p:cNvPr id="7" name="Picture 6">
            <a:extLst>
              <a:ext uri="{FF2B5EF4-FFF2-40B4-BE49-F238E27FC236}">
                <a16:creationId xmlns:a16="http://schemas.microsoft.com/office/drawing/2014/main" id="{1169C519-C59E-6C58-92AF-A38BD2D331BD}"/>
              </a:ext>
            </a:extLst>
          </p:cNvPr>
          <p:cNvPicPr>
            <a:picLocks noChangeAspect="1"/>
          </p:cNvPicPr>
          <p:nvPr/>
        </p:nvPicPr>
        <p:blipFill>
          <a:blip r:embed="rId4"/>
          <a:srcRect l="6090" r="3418" b="5026"/>
          <a:stretch/>
        </p:blipFill>
        <p:spPr>
          <a:xfrm>
            <a:off x="6095999" y="1969290"/>
            <a:ext cx="5469653" cy="2217124"/>
          </a:xfrm>
          <a:prstGeom prst="rect">
            <a:avLst/>
          </a:prstGeom>
          <a:ln w="28575">
            <a:solidFill>
              <a:schemeClr val="accent1">
                <a:lumMod val="50000"/>
              </a:schemeClr>
            </a:solidFill>
          </a:ln>
        </p:spPr>
      </p:pic>
      <p:pic>
        <p:nvPicPr>
          <p:cNvPr id="9" name="Picture 8">
            <a:extLst>
              <a:ext uri="{FF2B5EF4-FFF2-40B4-BE49-F238E27FC236}">
                <a16:creationId xmlns:a16="http://schemas.microsoft.com/office/drawing/2014/main" id="{2BBBC56C-3BFC-0968-4483-0287F27B63A7}"/>
              </a:ext>
            </a:extLst>
          </p:cNvPr>
          <p:cNvPicPr>
            <a:picLocks noChangeAspect="1"/>
          </p:cNvPicPr>
          <p:nvPr/>
        </p:nvPicPr>
        <p:blipFill>
          <a:blip r:embed="rId5"/>
          <a:stretch>
            <a:fillRect/>
          </a:stretch>
        </p:blipFill>
        <p:spPr>
          <a:xfrm>
            <a:off x="356515" y="4366563"/>
            <a:ext cx="7617839" cy="2408744"/>
          </a:xfrm>
          <a:prstGeom prst="rect">
            <a:avLst/>
          </a:prstGeom>
          <a:ln w="28575">
            <a:solidFill>
              <a:schemeClr val="accent1">
                <a:lumMod val="50000"/>
              </a:schemeClr>
            </a:solidFill>
          </a:ln>
        </p:spPr>
      </p:pic>
      <p:sp>
        <p:nvSpPr>
          <p:cNvPr id="3" name="TextBox 2">
            <a:extLst>
              <a:ext uri="{FF2B5EF4-FFF2-40B4-BE49-F238E27FC236}">
                <a16:creationId xmlns:a16="http://schemas.microsoft.com/office/drawing/2014/main" id="{5FD27D96-18ED-D06F-276C-19E8E3200355}"/>
              </a:ext>
            </a:extLst>
          </p:cNvPr>
          <p:cNvSpPr txBox="1"/>
          <p:nvPr/>
        </p:nvSpPr>
        <p:spPr>
          <a:xfrm>
            <a:off x="255638" y="270180"/>
            <a:ext cx="9193161" cy="400110"/>
          </a:xfrm>
          <a:prstGeom prst="rect">
            <a:avLst/>
          </a:prstGeom>
          <a:noFill/>
        </p:spPr>
        <p:txBody>
          <a:bodyPr wrap="square" rtlCol="0">
            <a:spAutoFit/>
          </a:bodyPr>
          <a:lstStyle/>
          <a:p>
            <a:r>
              <a:rPr lang="en-US" sz="2000" b="1" dirty="0">
                <a:latin typeface="Arial" panose="020B0604020202020204" pitchFamily="34" charset="0"/>
                <a:cs typeface="Arial" panose="020B0604020202020204" pitchFamily="34" charset="0"/>
              </a:rPr>
              <a:t>DD+ Framework Application</a:t>
            </a:r>
            <a:endParaRPr lang="en-SG" sz="2000" b="1"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6E7E61C0-1845-02CF-4AEE-6C876FC83008}"/>
              </a:ext>
            </a:extLst>
          </p:cNvPr>
          <p:cNvSpPr txBox="1"/>
          <p:nvPr/>
        </p:nvSpPr>
        <p:spPr>
          <a:xfrm>
            <a:off x="285132" y="770054"/>
            <a:ext cx="10838393" cy="954107"/>
          </a:xfrm>
          <a:prstGeom prst="rect">
            <a:avLst/>
          </a:prstGeom>
          <a:noFill/>
        </p:spPr>
        <p:txBody>
          <a:bodyPr wrap="square" rtlCol="0">
            <a:spAutoFit/>
          </a:bodyPr>
          <a:lstStyle/>
          <a:p>
            <a:pPr marL="285750"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Divergence: </a:t>
            </a:r>
            <a:r>
              <a:rPr lang="en-US" sz="1600" dirty="0">
                <a:latin typeface="Arial" panose="020B0604020202020204" pitchFamily="34" charset="0"/>
                <a:cs typeface="Arial" panose="020B0604020202020204" pitchFamily="34" charset="0"/>
              </a:rPr>
              <a:t>Explored multiple personas and contexts.</a:t>
            </a:r>
          </a:p>
          <a:p>
            <a:pPr marL="285750" indent="-285750">
              <a:buFont typeface="Arial" panose="020B0604020202020204" pitchFamily="34" charset="0"/>
              <a:buChar char="•"/>
            </a:pPr>
            <a:endParaRPr lang="en-US" sz="8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Convergence: </a:t>
            </a:r>
            <a:r>
              <a:rPr lang="en-US" sz="1600" dirty="0">
                <a:latin typeface="Arial" panose="020B0604020202020204" pitchFamily="34" charset="0"/>
                <a:cs typeface="Arial" panose="020B0604020202020204" pitchFamily="34" charset="0"/>
              </a:rPr>
              <a:t>Refined the HMW question based on our top three insights to focus on high school students and their specific challenges.</a:t>
            </a:r>
            <a:endParaRPr lang="en-SG"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48228654"/>
      </p:ext>
    </p:extLst>
  </p:cSld>
  <p:clrMapOvr>
    <a:masterClrMapping/>
  </p:clrMapOvr>
  <mc:AlternateContent xmlns:mc="http://schemas.openxmlformats.org/markup-compatibility/2006" xmlns:p14="http://schemas.microsoft.com/office/powerpoint/2010/main">
    <mc:Choice Requires="p14">
      <p:transition spd="slow" p14:dur="2000" advTm="27099"/>
    </mc:Choice>
    <mc:Fallback xmlns="">
      <p:transition spd="slow" advTm="27099"/>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6"/>
          <p:cNvSpPr txBox="1"/>
          <p:nvPr/>
        </p:nvSpPr>
        <p:spPr>
          <a:xfrm>
            <a:off x="303674" y="175159"/>
            <a:ext cx="9193161"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a:solidFill>
                  <a:schemeClr val="dk1"/>
                </a:solidFill>
                <a:latin typeface="Arial"/>
                <a:ea typeface="Arial"/>
                <a:cs typeface="Arial"/>
                <a:sym typeface="Arial"/>
              </a:rPr>
              <a:t>Learning Moment 2: Prioritizing Platform Features</a:t>
            </a:r>
            <a:endParaRPr sz="2800"/>
          </a:p>
        </p:txBody>
      </p:sp>
      <p:sp>
        <p:nvSpPr>
          <p:cNvPr id="79" name="Google Shape;79;p16"/>
          <p:cNvSpPr txBox="1"/>
          <p:nvPr/>
        </p:nvSpPr>
        <p:spPr>
          <a:xfrm>
            <a:off x="303674" y="798887"/>
            <a:ext cx="11584651" cy="1384954"/>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600"/>
              <a:buFont typeface="Arial"/>
              <a:buChar char="•"/>
            </a:pPr>
            <a:r>
              <a:rPr lang="en-US" sz="1600" b="1" i="0" u="none" strike="noStrike" cap="none" dirty="0">
                <a:solidFill>
                  <a:schemeClr val="dk1"/>
                </a:solidFill>
                <a:latin typeface="Arial"/>
                <a:ea typeface="Arial"/>
                <a:cs typeface="Arial"/>
                <a:sym typeface="Arial"/>
              </a:rPr>
              <a:t>Process Element: </a:t>
            </a:r>
            <a:r>
              <a:rPr lang="en-US" sz="1600" b="0" i="0" u="none" strike="noStrike" cap="none" dirty="0">
                <a:solidFill>
                  <a:schemeClr val="dk1"/>
                </a:solidFill>
                <a:latin typeface="Arial"/>
                <a:ea typeface="Arial"/>
                <a:cs typeface="Arial"/>
                <a:sym typeface="Arial"/>
              </a:rPr>
              <a:t>Critical Debates, Key Decisions, and Tradeoffs</a:t>
            </a:r>
            <a:endParaRPr dirty="0"/>
          </a:p>
          <a:p>
            <a:pPr marL="285750" marR="0" lvl="0" indent="-184150" algn="l" rtl="0">
              <a:lnSpc>
                <a:spcPct val="100000"/>
              </a:lnSpc>
              <a:spcBef>
                <a:spcPts val="0"/>
              </a:spcBef>
              <a:spcAft>
                <a:spcPts val="0"/>
              </a:spcAft>
              <a:buClr>
                <a:srgbClr val="000000"/>
              </a:buClr>
              <a:buSzPts val="1600"/>
              <a:buFont typeface="Arial"/>
              <a:buNone/>
            </a:pPr>
            <a:endParaRPr sz="1000" b="0" i="0" u="none" strike="noStrike" cap="none" dirty="0">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600"/>
              <a:buFont typeface="Arial"/>
              <a:buChar char="•"/>
            </a:pPr>
            <a:r>
              <a:rPr lang="en-US" sz="1600" b="1" i="0" u="none" strike="noStrike" cap="none" dirty="0">
                <a:solidFill>
                  <a:schemeClr val="dk1"/>
                </a:solidFill>
                <a:latin typeface="Arial"/>
                <a:ea typeface="Arial"/>
                <a:cs typeface="Arial"/>
                <a:sym typeface="Arial"/>
              </a:rPr>
              <a:t>Key Highlights: </a:t>
            </a:r>
            <a:r>
              <a:rPr lang="en-US" sz="1600" b="0" i="0" u="none" strike="noStrike" cap="none" dirty="0">
                <a:solidFill>
                  <a:schemeClr val="dk1"/>
                </a:solidFill>
                <a:latin typeface="Arial"/>
                <a:ea typeface="Arial"/>
                <a:cs typeface="Arial"/>
                <a:sym typeface="Arial"/>
              </a:rPr>
              <a:t>Debate between gamification (to drive engagement) and AI personalization (for tailored insights).</a:t>
            </a:r>
            <a:endParaRPr lang="en-US" dirty="0">
              <a:sym typeface="Arial"/>
            </a:endParaRPr>
          </a:p>
          <a:p>
            <a:pPr marL="285750" marR="0" lvl="0" indent="-285750" algn="l" rtl="0">
              <a:lnSpc>
                <a:spcPct val="100000"/>
              </a:lnSpc>
              <a:spcBef>
                <a:spcPts val="0"/>
              </a:spcBef>
              <a:spcAft>
                <a:spcPts val="0"/>
              </a:spcAft>
              <a:buClr>
                <a:srgbClr val="000000"/>
              </a:buClr>
              <a:buSzPts val="1600"/>
              <a:buFont typeface="Arial"/>
              <a:buChar char="•"/>
            </a:pPr>
            <a:endParaRPr sz="1000" b="0" i="0" u="none" strike="noStrike" cap="none" dirty="0">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600"/>
              <a:buFont typeface="Arial"/>
              <a:buChar char="•"/>
            </a:pPr>
            <a:r>
              <a:rPr lang="en-US" sz="1600" b="1" i="0" u="none" strike="noStrike" cap="none" dirty="0">
                <a:solidFill>
                  <a:schemeClr val="dk1"/>
                </a:solidFill>
                <a:latin typeface="Arial"/>
                <a:ea typeface="Arial"/>
                <a:cs typeface="Arial"/>
                <a:sym typeface="Arial"/>
              </a:rPr>
              <a:t>Tradeoff: </a:t>
            </a:r>
            <a:r>
              <a:rPr lang="en-US" sz="1600" b="0" i="0" u="none" strike="noStrike" cap="none" dirty="0">
                <a:solidFill>
                  <a:schemeClr val="dk1"/>
                </a:solidFill>
                <a:latin typeface="Arial"/>
                <a:ea typeface="Arial"/>
                <a:cs typeface="Arial"/>
                <a:sym typeface="Arial"/>
              </a:rPr>
              <a:t>Immediate engagement vs. long-term personalization benefits.</a:t>
            </a:r>
            <a:endParaRPr dirty="0"/>
          </a:p>
          <a:p>
            <a:pPr marL="0" marR="0" lvl="0" indent="0" algn="l" rtl="0">
              <a:lnSpc>
                <a:spcPct val="100000"/>
              </a:lnSpc>
              <a:spcBef>
                <a:spcPts val="0"/>
              </a:spcBef>
              <a:spcAft>
                <a:spcPts val="0"/>
              </a:spcAft>
              <a:buNone/>
            </a:pPr>
            <a:endParaRPr sz="1600" b="0" i="0" u="none" strike="noStrike" cap="none" dirty="0">
              <a:solidFill>
                <a:schemeClr val="dk1"/>
              </a:solidFill>
              <a:latin typeface="Arial"/>
              <a:ea typeface="Arial"/>
              <a:cs typeface="Arial"/>
              <a:sym typeface="Arial"/>
            </a:endParaRPr>
          </a:p>
        </p:txBody>
      </p:sp>
      <p:pic>
        <p:nvPicPr>
          <p:cNvPr id="80" name="Google Shape;80;p16"/>
          <p:cNvPicPr preferRelativeResize="0"/>
          <p:nvPr/>
        </p:nvPicPr>
        <p:blipFill rotWithShape="1">
          <a:blip r:embed="rId3">
            <a:alphaModFix/>
          </a:blip>
          <a:srcRect l="414" t="3641" r="22881" b="13247"/>
          <a:stretch/>
        </p:blipFill>
        <p:spPr>
          <a:xfrm>
            <a:off x="76736" y="2140321"/>
            <a:ext cx="8679637" cy="4618289"/>
          </a:xfrm>
          <a:prstGeom prst="rect">
            <a:avLst/>
          </a:prstGeom>
          <a:noFill/>
          <a:ln w="28575" cap="flat" cmpd="sng">
            <a:solidFill>
              <a:srgbClr val="1F3864"/>
            </a:solidFill>
            <a:prstDash val="solid"/>
            <a:round/>
            <a:headEnd type="none" w="sm" len="sm"/>
            <a:tailEnd type="none" w="sm" len="sm"/>
          </a:ln>
        </p:spPr>
      </p:pic>
      <p:sp>
        <p:nvSpPr>
          <p:cNvPr id="6" name="Oval 5">
            <a:extLst>
              <a:ext uri="{FF2B5EF4-FFF2-40B4-BE49-F238E27FC236}">
                <a16:creationId xmlns:a16="http://schemas.microsoft.com/office/drawing/2014/main" id="{CCBC0E5D-58C2-A08D-0456-B96207B9B351}"/>
              </a:ext>
            </a:extLst>
          </p:cNvPr>
          <p:cNvSpPr/>
          <p:nvPr/>
        </p:nvSpPr>
        <p:spPr>
          <a:xfrm>
            <a:off x="248481" y="3170582"/>
            <a:ext cx="1569620" cy="156962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Google Shape;79;p16">
            <a:extLst>
              <a:ext uri="{FF2B5EF4-FFF2-40B4-BE49-F238E27FC236}">
                <a16:creationId xmlns:a16="http://schemas.microsoft.com/office/drawing/2014/main" id="{19B6566A-DD87-1870-86FB-5D09892A7662}"/>
              </a:ext>
            </a:extLst>
          </p:cNvPr>
          <p:cNvSpPr txBox="1"/>
          <p:nvPr/>
        </p:nvSpPr>
        <p:spPr>
          <a:xfrm>
            <a:off x="1481143" y="4222766"/>
            <a:ext cx="1639746" cy="584735"/>
          </a:xfrm>
          <a:prstGeom prst="rect">
            <a:avLst/>
          </a:prstGeom>
          <a:noFill/>
          <a:ln>
            <a:noFill/>
          </a:ln>
        </p:spPr>
        <p:txBody>
          <a:bodyPr spcFirstLastPara="1" wrap="square" lIns="91425" tIns="45700" rIns="91425" bIns="45700" anchor="t" anchorCtr="0">
            <a:spAutoFit/>
          </a:bodyPr>
          <a:lstStyle/>
          <a:p>
            <a:pPr marR="0" lvl="0" algn="ctr" rtl="0">
              <a:lnSpc>
                <a:spcPct val="100000"/>
              </a:lnSpc>
              <a:spcBef>
                <a:spcPts val="0"/>
              </a:spcBef>
              <a:spcAft>
                <a:spcPts val="0"/>
              </a:spcAft>
              <a:buClr>
                <a:srgbClr val="000000"/>
              </a:buClr>
              <a:buSzPts val="1600"/>
            </a:pPr>
            <a:r>
              <a:rPr lang="en-US" sz="1600" b="0" i="1" u="none" strike="noStrike" cap="none" dirty="0">
                <a:solidFill>
                  <a:schemeClr val="dk1"/>
                </a:solidFill>
                <a:latin typeface="Arial"/>
                <a:ea typeface="Arial"/>
                <a:cs typeface="Arial"/>
                <a:sym typeface="Arial"/>
              </a:rPr>
              <a:t>AI</a:t>
            </a:r>
          </a:p>
          <a:p>
            <a:pPr marR="0" lvl="0" algn="ctr" rtl="0">
              <a:lnSpc>
                <a:spcPct val="100000"/>
              </a:lnSpc>
              <a:spcBef>
                <a:spcPts val="0"/>
              </a:spcBef>
              <a:spcAft>
                <a:spcPts val="0"/>
              </a:spcAft>
              <a:buClr>
                <a:srgbClr val="000000"/>
              </a:buClr>
              <a:buSzPts val="1600"/>
            </a:pPr>
            <a:r>
              <a:rPr lang="en-US" sz="1600" b="0" i="1" u="none" strike="noStrike" cap="none" dirty="0">
                <a:solidFill>
                  <a:schemeClr val="dk1"/>
                </a:solidFill>
                <a:latin typeface="Arial"/>
                <a:ea typeface="Arial"/>
                <a:cs typeface="Arial"/>
                <a:sym typeface="Arial"/>
              </a:rPr>
              <a:t>Personalization</a:t>
            </a:r>
          </a:p>
        </p:txBody>
      </p:sp>
      <p:sp>
        <p:nvSpPr>
          <p:cNvPr id="10" name="Oval 9">
            <a:extLst>
              <a:ext uri="{FF2B5EF4-FFF2-40B4-BE49-F238E27FC236}">
                <a16:creationId xmlns:a16="http://schemas.microsoft.com/office/drawing/2014/main" id="{B82CB21F-D16B-8F42-1246-25594959948C}"/>
              </a:ext>
            </a:extLst>
          </p:cNvPr>
          <p:cNvSpPr/>
          <p:nvPr/>
        </p:nvSpPr>
        <p:spPr>
          <a:xfrm>
            <a:off x="162342" y="4833217"/>
            <a:ext cx="1569620" cy="156962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Google Shape;79;p16">
            <a:extLst>
              <a:ext uri="{FF2B5EF4-FFF2-40B4-BE49-F238E27FC236}">
                <a16:creationId xmlns:a16="http://schemas.microsoft.com/office/drawing/2014/main" id="{F2ECC136-84EB-BD7B-96B0-26A05E7FC8A2}"/>
              </a:ext>
            </a:extLst>
          </p:cNvPr>
          <p:cNvSpPr txBox="1"/>
          <p:nvPr/>
        </p:nvSpPr>
        <p:spPr>
          <a:xfrm>
            <a:off x="1481143" y="5133561"/>
            <a:ext cx="1639746" cy="338514"/>
          </a:xfrm>
          <a:prstGeom prst="rect">
            <a:avLst/>
          </a:prstGeom>
          <a:noFill/>
          <a:ln>
            <a:noFill/>
          </a:ln>
        </p:spPr>
        <p:txBody>
          <a:bodyPr spcFirstLastPara="1" wrap="square" lIns="91425" tIns="45700" rIns="91425" bIns="45700" anchor="t" anchorCtr="0">
            <a:spAutoFit/>
          </a:bodyPr>
          <a:lstStyle/>
          <a:p>
            <a:pPr marR="0" lvl="0" algn="ctr" rtl="0">
              <a:lnSpc>
                <a:spcPct val="100000"/>
              </a:lnSpc>
              <a:spcBef>
                <a:spcPts val="0"/>
              </a:spcBef>
              <a:spcAft>
                <a:spcPts val="0"/>
              </a:spcAft>
              <a:buClr>
                <a:srgbClr val="000000"/>
              </a:buClr>
              <a:buSzPts val="1600"/>
            </a:pPr>
            <a:r>
              <a:rPr lang="en-US" sz="1600" b="0" i="1" u="none" strike="noStrike" cap="none" dirty="0">
                <a:solidFill>
                  <a:schemeClr val="dk1"/>
                </a:solidFill>
                <a:latin typeface="Arial"/>
                <a:ea typeface="Arial"/>
                <a:cs typeface="Arial"/>
                <a:sym typeface="Arial"/>
              </a:rPr>
              <a:t>Gamification</a:t>
            </a:r>
          </a:p>
        </p:txBody>
      </p:sp>
    </p:spTree>
  </p:cSld>
  <p:clrMapOvr>
    <a:masterClrMapping/>
  </p:clrMapOvr>
  <mc:AlternateContent xmlns:mc="http://schemas.openxmlformats.org/markup-compatibility/2006" xmlns:p14="http://schemas.microsoft.com/office/powerpoint/2010/main">
    <mc:Choice Requires="p14">
      <p:transition spd="slow" p14:dur="2000" advTm="11618"/>
    </mc:Choice>
    <mc:Fallback xmlns="">
      <p:transition spd="slow" advTm="11618"/>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7"/>
          <p:cNvSpPr txBox="1"/>
          <p:nvPr/>
        </p:nvSpPr>
        <p:spPr>
          <a:xfrm>
            <a:off x="255638" y="270180"/>
            <a:ext cx="9193161"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dirty="0">
                <a:solidFill>
                  <a:schemeClr val="dk1"/>
                </a:solidFill>
                <a:latin typeface="Arial"/>
                <a:ea typeface="Arial"/>
                <a:cs typeface="Arial"/>
                <a:sym typeface="Arial"/>
              </a:rPr>
              <a:t>DD+ Framework Application</a:t>
            </a:r>
            <a:endParaRPr sz="2000" b="1" i="0" u="none" strike="noStrike" cap="none" dirty="0">
              <a:solidFill>
                <a:schemeClr val="dk1"/>
              </a:solidFill>
              <a:latin typeface="Arial"/>
              <a:ea typeface="Arial"/>
              <a:cs typeface="Arial"/>
              <a:sym typeface="Arial"/>
            </a:endParaRPr>
          </a:p>
        </p:txBody>
      </p:sp>
      <p:sp>
        <p:nvSpPr>
          <p:cNvPr id="87" name="Google Shape;87;p17"/>
          <p:cNvSpPr txBox="1"/>
          <p:nvPr/>
        </p:nvSpPr>
        <p:spPr>
          <a:xfrm>
            <a:off x="255638" y="919143"/>
            <a:ext cx="11993954" cy="1077178"/>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600"/>
              <a:buFont typeface="Arial"/>
              <a:buChar char="•"/>
            </a:pPr>
            <a:r>
              <a:rPr lang="en-US" sz="1600" b="1" i="0" u="none" strike="noStrike" cap="none" dirty="0">
                <a:solidFill>
                  <a:schemeClr val="dk1"/>
                </a:solidFill>
                <a:latin typeface="Arial"/>
                <a:ea typeface="Arial"/>
                <a:cs typeface="Arial"/>
                <a:sym typeface="Arial"/>
              </a:rPr>
              <a:t>Decision: </a:t>
            </a:r>
            <a:r>
              <a:rPr lang="en-US" sz="1600" b="0" i="0" u="none" strike="noStrike" cap="none" dirty="0">
                <a:solidFill>
                  <a:schemeClr val="dk1"/>
                </a:solidFill>
                <a:latin typeface="Arial"/>
                <a:ea typeface="Arial"/>
                <a:cs typeface="Arial"/>
                <a:sym typeface="Arial"/>
              </a:rPr>
              <a:t>Prioritize gamification initially for user engagement; plan AI features for future iterations.</a:t>
            </a:r>
            <a:endParaRPr dirty="0"/>
          </a:p>
          <a:p>
            <a:pPr marL="0" marR="0" lvl="0" indent="0" algn="l" rtl="0">
              <a:lnSpc>
                <a:spcPct val="100000"/>
              </a:lnSpc>
              <a:spcBef>
                <a:spcPts val="0"/>
              </a:spcBef>
              <a:spcAft>
                <a:spcPts val="0"/>
              </a:spcAft>
              <a:buNone/>
            </a:pPr>
            <a:endParaRPr sz="1600" b="0" i="0" u="none" strike="noStrike" cap="none" dirty="0">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600"/>
              <a:buFont typeface="Arial"/>
              <a:buChar char="•"/>
            </a:pPr>
            <a:r>
              <a:rPr lang="en-US" sz="1600" b="1" i="0" u="none" strike="noStrike" cap="none" dirty="0">
                <a:solidFill>
                  <a:schemeClr val="dk1"/>
                </a:solidFill>
                <a:latin typeface="Arial"/>
                <a:ea typeface="Arial"/>
                <a:cs typeface="Arial"/>
                <a:sym typeface="Arial"/>
              </a:rPr>
              <a:t>DD+ Framework Application: </a:t>
            </a:r>
            <a:endParaRPr dirty="0"/>
          </a:p>
          <a:p>
            <a:pPr marL="0" marR="0" lvl="0" indent="0" algn="l" rtl="0">
              <a:lnSpc>
                <a:spcPct val="100000"/>
              </a:lnSpc>
              <a:spcBef>
                <a:spcPts val="0"/>
              </a:spcBef>
              <a:spcAft>
                <a:spcPts val="0"/>
              </a:spcAft>
              <a:buNone/>
            </a:pPr>
            <a:r>
              <a:rPr lang="en-US" sz="1600" b="1" i="0" u="none" strike="noStrike" cap="none" dirty="0">
                <a:solidFill>
                  <a:schemeClr val="dk1"/>
                </a:solidFill>
                <a:latin typeface="Arial"/>
                <a:ea typeface="Arial"/>
                <a:cs typeface="Arial"/>
                <a:sym typeface="Arial"/>
              </a:rPr>
              <a:t>     </a:t>
            </a:r>
            <a:r>
              <a:rPr lang="en-US" sz="1600" b="0" i="0" u="none" strike="noStrike" cap="none" dirty="0">
                <a:solidFill>
                  <a:schemeClr val="dk1"/>
                </a:solidFill>
                <a:latin typeface="Arial"/>
                <a:ea typeface="Arial"/>
                <a:cs typeface="Arial"/>
                <a:sym typeface="Arial"/>
              </a:rPr>
              <a:t>Iterative testing and feedback validated desirability of gamification (e.g., reminders and interactive tasks).</a:t>
            </a:r>
            <a:endParaRPr sz="1600" b="0" i="0" u="none" strike="noStrike" cap="none" dirty="0">
              <a:solidFill>
                <a:schemeClr val="dk1"/>
              </a:solidFill>
              <a:latin typeface="Arial"/>
              <a:ea typeface="Arial"/>
              <a:cs typeface="Arial"/>
              <a:sym typeface="Arial"/>
            </a:endParaRPr>
          </a:p>
        </p:txBody>
      </p:sp>
      <p:pic>
        <p:nvPicPr>
          <p:cNvPr id="88" name="Google Shape;88;p17"/>
          <p:cNvPicPr preferRelativeResize="0"/>
          <p:nvPr/>
        </p:nvPicPr>
        <p:blipFill rotWithShape="1">
          <a:blip r:embed="rId3">
            <a:alphaModFix/>
          </a:blip>
          <a:srcRect/>
          <a:stretch/>
        </p:blipFill>
        <p:spPr>
          <a:xfrm>
            <a:off x="1086326" y="2457488"/>
            <a:ext cx="4727940" cy="3847517"/>
          </a:xfrm>
          <a:prstGeom prst="rect">
            <a:avLst/>
          </a:prstGeom>
          <a:noFill/>
          <a:ln w="28575" cap="flat" cmpd="sng">
            <a:solidFill>
              <a:srgbClr val="1F3864"/>
            </a:solidFill>
            <a:prstDash val="solid"/>
            <a:round/>
            <a:headEnd type="none" w="sm" len="sm"/>
            <a:tailEnd type="none" w="sm" len="sm"/>
          </a:ln>
        </p:spPr>
      </p:pic>
      <p:pic>
        <p:nvPicPr>
          <p:cNvPr id="89" name="Google Shape;89;p17"/>
          <p:cNvPicPr preferRelativeResize="0"/>
          <p:nvPr/>
        </p:nvPicPr>
        <p:blipFill rotWithShape="1">
          <a:blip r:embed="rId4">
            <a:alphaModFix/>
          </a:blip>
          <a:srcRect/>
          <a:stretch/>
        </p:blipFill>
        <p:spPr>
          <a:xfrm>
            <a:off x="6004945" y="2457488"/>
            <a:ext cx="2523532" cy="3847517"/>
          </a:xfrm>
          <a:prstGeom prst="rect">
            <a:avLst/>
          </a:prstGeom>
          <a:noFill/>
          <a:ln w="28575" cap="flat" cmpd="sng">
            <a:solidFill>
              <a:srgbClr val="1F3864"/>
            </a:solidFill>
            <a:prstDash val="solid"/>
            <a:round/>
            <a:headEnd type="none" w="sm" len="sm"/>
            <a:tailEnd type="none" w="sm" len="sm"/>
          </a:ln>
        </p:spPr>
      </p:pic>
    </p:spTree>
  </p:cSld>
  <p:clrMapOvr>
    <a:masterClrMapping/>
  </p:clrMapOvr>
  <mc:AlternateContent xmlns:mc="http://schemas.openxmlformats.org/markup-compatibility/2006" xmlns:p14="http://schemas.microsoft.com/office/powerpoint/2010/main">
    <mc:Choice Requires="p14">
      <p:transition spd="slow" p14:dur="2000" advTm="4789"/>
    </mc:Choice>
    <mc:Fallback xmlns="">
      <p:transition spd="slow" advTm="4789"/>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title"/>
          </p:nvPr>
        </p:nvSpPr>
        <p:spPr>
          <a:xfrm>
            <a:off x="208000" y="0"/>
            <a:ext cx="11776000" cy="763600"/>
          </a:xfrm>
          <a:prstGeom prst="rect">
            <a:avLst/>
          </a:prstGeom>
        </p:spPr>
        <p:txBody>
          <a:bodyPr spcFirstLastPara="1" vert="horz" wrap="square" lIns="121900" tIns="121900" rIns="121900" bIns="121900" rtlCol="0" anchor="t" anchorCtr="0">
            <a:noAutofit/>
          </a:bodyPr>
          <a:lstStyle/>
          <a:p>
            <a:pPr>
              <a:lnSpc>
                <a:spcPct val="115000"/>
              </a:lnSpc>
              <a:spcBef>
                <a:spcPts val="1600"/>
              </a:spcBef>
              <a:spcAft>
                <a:spcPts val="267"/>
              </a:spcAft>
              <a:buClr>
                <a:schemeClr val="dk1"/>
              </a:buClr>
              <a:buSzPts val="1100"/>
            </a:pPr>
            <a:r>
              <a:rPr lang="en" sz="2800" b="1" dirty="0">
                <a:latin typeface="Arial" panose="020B0604020202020204" pitchFamily="34" charset="0"/>
                <a:cs typeface="Arial" panose="020B0604020202020204" pitchFamily="34" charset="0"/>
              </a:rPr>
              <a:t>Learning Moment 3: Business Model Development</a:t>
            </a:r>
            <a:endParaRPr sz="2800" dirty="0">
              <a:latin typeface="Arial" panose="020B0604020202020204" pitchFamily="34" charset="0"/>
              <a:cs typeface="Arial" panose="020B0604020202020204" pitchFamily="34" charset="0"/>
            </a:endParaRPr>
          </a:p>
        </p:txBody>
      </p:sp>
      <p:sp>
        <p:nvSpPr>
          <p:cNvPr id="55" name="Google Shape;55;p13"/>
          <p:cNvSpPr txBox="1">
            <a:spLocks noGrp="1"/>
          </p:cNvSpPr>
          <p:nvPr>
            <p:ph type="body" idx="1"/>
          </p:nvPr>
        </p:nvSpPr>
        <p:spPr>
          <a:xfrm>
            <a:off x="213702" y="1129517"/>
            <a:ext cx="3765200" cy="2871200"/>
          </a:xfrm>
          <a:prstGeom prst="rect">
            <a:avLst/>
          </a:prstGeom>
        </p:spPr>
        <p:txBody>
          <a:bodyPr spcFirstLastPara="1" vert="horz" wrap="square" lIns="152400" tIns="121900" rIns="121900" bIns="121900" rtlCol="0" anchor="t" anchorCtr="0">
            <a:noAutofit/>
          </a:bodyPr>
          <a:lstStyle/>
          <a:p>
            <a:pPr marL="0" indent="0">
              <a:spcBef>
                <a:spcPts val="2400"/>
              </a:spcBef>
              <a:buNone/>
            </a:pPr>
            <a:r>
              <a:rPr lang="en" sz="1600" dirty="0">
                <a:solidFill>
                  <a:schemeClr val="dk1"/>
                </a:solidFill>
                <a:latin typeface="Arial" panose="020B0604020202020204" pitchFamily="34" charset="0"/>
                <a:cs typeface="Arial" panose="020B0604020202020204" pitchFamily="34" charset="0"/>
              </a:rPr>
              <a:t>Debate: </a:t>
            </a:r>
            <a:r>
              <a:rPr lang="en" sz="1600" b="1" dirty="0">
                <a:solidFill>
                  <a:schemeClr val="dk1"/>
                </a:solidFill>
                <a:latin typeface="Arial" panose="020B0604020202020204" pitchFamily="34" charset="0"/>
                <a:cs typeface="Arial" panose="020B0604020202020204" pitchFamily="34" charset="0"/>
              </a:rPr>
              <a:t>Freemium </a:t>
            </a:r>
            <a:r>
              <a:rPr lang="en" sz="1600" dirty="0">
                <a:solidFill>
                  <a:schemeClr val="dk1"/>
                </a:solidFill>
                <a:latin typeface="Arial" panose="020B0604020202020204" pitchFamily="34" charset="0"/>
                <a:cs typeface="Arial" panose="020B0604020202020204" pitchFamily="34" charset="0"/>
              </a:rPr>
              <a:t>Vs. </a:t>
            </a:r>
            <a:r>
              <a:rPr lang="en" sz="1600" b="1" dirty="0">
                <a:solidFill>
                  <a:schemeClr val="dk1"/>
                </a:solidFill>
                <a:latin typeface="Arial" panose="020B0604020202020204" pitchFamily="34" charset="0"/>
                <a:cs typeface="Arial" panose="020B0604020202020204" pitchFamily="34" charset="0"/>
              </a:rPr>
              <a:t>Subscription Model</a:t>
            </a:r>
            <a:r>
              <a:rPr lang="en" sz="1600" dirty="0">
                <a:solidFill>
                  <a:schemeClr val="dk1"/>
                </a:solidFill>
                <a:latin typeface="Arial" panose="020B0604020202020204" pitchFamily="34" charset="0"/>
                <a:cs typeface="Arial" panose="020B0604020202020204" pitchFamily="34" charset="0"/>
              </a:rPr>
              <a:t> </a:t>
            </a:r>
            <a:endParaRPr sz="1600" dirty="0">
              <a:solidFill>
                <a:schemeClr val="dk1"/>
              </a:solidFill>
              <a:latin typeface="Arial" panose="020B0604020202020204" pitchFamily="34" charset="0"/>
              <a:cs typeface="Arial" panose="020B0604020202020204" pitchFamily="34" charset="0"/>
            </a:endParaRPr>
          </a:p>
          <a:p>
            <a:pPr marL="152396" indent="-253994">
              <a:lnSpc>
                <a:spcPct val="115000"/>
              </a:lnSpc>
              <a:spcBef>
                <a:spcPts val="2400"/>
              </a:spcBef>
              <a:buClr>
                <a:schemeClr val="dk1"/>
              </a:buClr>
              <a:buSzPts val="1200"/>
            </a:pPr>
            <a:r>
              <a:rPr lang="en" sz="1600" b="1" dirty="0">
                <a:solidFill>
                  <a:schemeClr val="dk1"/>
                </a:solidFill>
                <a:latin typeface="Arial" panose="020B0604020202020204" pitchFamily="34" charset="0"/>
                <a:cs typeface="Arial" panose="020B0604020202020204" pitchFamily="34" charset="0"/>
              </a:rPr>
              <a:t>Tradeoff:</a:t>
            </a:r>
            <a:r>
              <a:rPr lang="en" sz="1600" dirty="0">
                <a:solidFill>
                  <a:schemeClr val="dk1"/>
                </a:solidFill>
                <a:latin typeface="Arial" panose="020B0604020202020204" pitchFamily="34" charset="0"/>
                <a:cs typeface="Arial" panose="020B0604020202020204" pitchFamily="34" charset="0"/>
              </a:rPr>
              <a:t> Accessibility vs. operational viability.</a:t>
            </a:r>
            <a:endParaRPr sz="1600" dirty="0">
              <a:solidFill>
                <a:schemeClr val="dk1"/>
              </a:solidFill>
              <a:latin typeface="Arial" panose="020B0604020202020204" pitchFamily="34" charset="0"/>
              <a:cs typeface="Arial" panose="020B0604020202020204" pitchFamily="34" charset="0"/>
            </a:endParaRPr>
          </a:p>
          <a:p>
            <a:pPr indent="0">
              <a:lnSpc>
                <a:spcPct val="115000"/>
              </a:lnSpc>
              <a:buNone/>
            </a:pPr>
            <a:endParaRPr sz="1600" dirty="0">
              <a:solidFill>
                <a:schemeClr val="dk1"/>
              </a:solidFill>
              <a:latin typeface="Arial" panose="020B0604020202020204" pitchFamily="34" charset="0"/>
              <a:cs typeface="Arial" panose="020B0604020202020204" pitchFamily="34" charset="0"/>
            </a:endParaRPr>
          </a:p>
          <a:p>
            <a:pPr marL="152396" indent="-253994">
              <a:lnSpc>
                <a:spcPct val="115000"/>
              </a:lnSpc>
              <a:buClr>
                <a:schemeClr val="dk1"/>
              </a:buClr>
              <a:buSzPts val="1200"/>
            </a:pPr>
            <a:r>
              <a:rPr lang="en" sz="1600" b="1" dirty="0">
                <a:solidFill>
                  <a:schemeClr val="dk1"/>
                </a:solidFill>
                <a:latin typeface="Arial" panose="020B0604020202020204" pitchFamily="34" charset="0"/>
                <a:cs typeface="Arial" panose="020B0604020202020204" pitchFamily="34" charset="0"/>
              </a:rPr>
              <a:t>Pivot:</a:t>
            </a:r>
            <a:r>
              <a:rPr lang="en" sz="1600" dirty="0">
                <a:solidFill>
                  <a:schemeClr val="dk1"/>
                </a:solidFill>
                <a:latin typeface="Arial" panose="020B0604020202020204" pitchFamily="34" charset="0"/>
                <a:cs typeface="Arial" panose="020B0604020202020204" pitchFamily="34" charset="0"/>
              </a:rPr>
              <a:t> Tiered subscription model targeting institutions while offering free basic features for students.</a:t>
            </a:r>
            <a:endParaRPr sz="1600" dirty="0">
              <a:solidFill>
                <a:schemeClr val="dk1"/>
              </a:solidFill>
              <a:latin typeface="Arial" panose="020B0604020202020204" pitchFamily="34" charset="0"/>
              <a:cs typeface="Arial" panose="020B0604020202020204" pitchFamily="34" charset="0"/>
            </a:endParaRPr>
          </a:p>
          <a:p>
            <a:pPr marL="0" indent="0">
              <a:spcBef>
                <a:spcPts val="2400"/>
              </a:spcBef>
              <a:spcAft>
                <a:spcPts val="2400"/>
              </a:spcAft>
              <a:buNone/>
            </a:pPr>
            <a:endParaRPr sz="2267" dirty="0">
              <a:solidFill>
                <a:schemeClr val="dk1"/>
              </a:solidFill>
              <a:latin typeface="Arial" panose="020B0604020202020204" pitchFamily="34" charset="0"/>
              <a:cs typeface="Arial" panose="020B0604020202020204" pitchFamily="34" charset="0"/>
            </a:endParaRPr>
          </a:p>
        </p:txBody>
      </p:sp>
      <p:pic>
        <p:nvPicPr>
          <p:cNvPr id="56" name="Google Shape;56;p13"/>
          <p:cNvPicPr preferRelativeResize="0"/>
          <p:nvPr/>
        </p:nvPicPr>
        <p:blipFill>
          <a:blip r:embed="rId3">
            <a:alphaModFix/>
          </a:blip>
          <a:stretch>
            <a:fillRect/>
          </a:stretch>
        </p:blipFill>
        <p:spPr>
          <a:xfrm>
            <a:off x="4491201" y="1231834"/>
            <a:ext cx="5480297" cy="2666567"/>
          </a:xfrm>
          <a:prstGeom prst="rect">
            <a:avLst/>
          </a:prstGeom>
          <a:noFill/>
          <a:ln>
            <a:noFill/>
          </a:ln>
        </p:spPr>
      </p:pic>
      <p:pic>
        <p:nvPicPr>
          <p:cNvPr id="57" name="Google Shape;57;p13"/>
          <p:cNvPicPr preferRelativeResize="0"/>
          <p:nvPr/>
        </p:nvPicPr>
        <p:blipFill>
          <a:blip r:embed="rId4">
            <a:alphaModFix/>
          </a:blip>
          <a:stretch>
            <a:fillRect/>
          </a:stretch>
        </p:blipFill>
        <p:spPr>
          <a:xfrm>
            <a:off x="611134" y="4675430"/>
            <a:ext cx="7723133" cy="1499567"/>
          </a:xfrm>
          <a:prstGeom prst="rect">
            <a:avLst/>
          </a:prstGeom>
          <a:noFill/>
          <a:ln>
            <a:noFill/>
          </a:ln>
        </p:spPr>
      </p:pic>
      <p:cxnSp>
        <p:nvCxnSpPr>
          <p:cNvPr id="58" name="Google Shape;58;p13"/>
          <p:cNvCxnSpPr>
            <a:endCxn id="57" idx="0"/>
          </p:cNvCxnSpPr>
          <p:nvPr/>
        </p:nvCxnSpPr>
        <p:spPr>
          <a:xfrm flipH="1">
            <a:off x="4472700" y="3898229"/>
            <a:ext cx="3122400" cy="7772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mc:AlternateContent xmlns:mc="http://schemas.openxmlformats.org/markup-compatibility/2006" xmlns:p14="http://schemas.microsoft.com/office/powerpoint/2010/main">
    <mc:Choice Requires="p14">
      <p:transition spd="slow" p14:dur="2000" advTm="22997"/>
    </mc:Choice>
    <mc:Fallback xmlns="">
      <p:transition spd="slow" advTm="22997"/>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220141" y="82296"/>
            <a:ext cx="11889563" cy="763600"/>
          </a:xfrm>
          <a:prstGeom prst="rect">
            <a:avLst/>
          </a:prstGeom>
        </p:spPr>
        <p:txBody>
          <a:bodyPr spcFirstLastPara="1" vert="horz" wrap="square" lIns="121900" tIns="121900" rIns="121900" bIns="121900" rtlCol="0" anchor="t" anchorCtr="0">
            <a:noAutofit/>
          </a:bodyPr>
          <a:lstStyle/>
          <a:p>
            <a:pPr marL="304792" indent="-304792">
              <a:lnSpc>
                <a:spcPct val="115000"/>
              </a:lnSpc>
              <a:spcBef>
                <a:spcPts val="1600"/>
              </a:spcBef>
              <a:spcAft>
                <a:spcPts val="267"/>
              </a:spcAft>
              <a:buClr>
                <a:schemeClr val="dk1"/>
              </a:buClr>
              <a:buSzPts val="1100"/>
            </a:pPr>
            <a:r>
              <a:rPr lang="en" sz="2000" b="1" dirty="0">
                <a:latin typeface="Arial" panose="020B0604020202020204" pitchFamily="34" charset="0"/>
                <a:cs typeface="Arial" panose="020B0604020202020204" pitchFamily="34" charset="0"/>
              </a:rPr>
              <a:t>DD+ Framework Application</a:t>
            </a:r>
            <a:endParaRPr sz="2000" dirty="0">
              <a:latin typeface="Arial" panose="020B0604020202020204" pitchFamily="34" charset="0"/>
              <a:cs typeface="Arial" panose="020B0604020202020204" pitchFamily="34" charset="0"/>
            </a:endParaRPr>
          </a:p>
        </p:txBody>
      </p:sp>
      <p:sp>
        <p:nvSpPr>
          <p:cNvPr id="64" name="Google Shape;64;p14"/>
          <p:cNvSpPr txBox="1">
            <a:spLocks noGrp="1"/>
          </p:cNvSpPr>
          <p:nvPr>
            <p:ph type="body" idx="1"/>
          </p:nvPr>
        </p:nvSpPr>
        <p:spPr>
          <a:xfrm>
            <a:off x="548168" y="1143592"/>
            <a:ext cx="5028019" cy="2013096"/>
          </a:xfrm>
          <a:prstGeom prst="rect">
            <a:avLst/>
          </a:prstGeom>
        </p:spPr>
        <p:txBody>
          <a:bodyPr spcFirstLastPara="1" vert="horz" wrap="square" lIns="121900" tIns="121900" rIns="121900" bIns="121900" rtlCol="0" anchor="t" anchorCtr="0">
            <a:noAutofit/>
          </a:bodyPr>
          <a:lstStyle/>
          <a:p>
            <a:pPr marL="0" indent="0">
              <a:buNone/>
            </a:pPr>
            <a:r>
              <a:rPr lang="en" sz="1600" b="1" dirty="0">
                <a:solidFill>
                  <a:schemeClr val="dk1"/>
                </a:solidFill>
                <a:latin typeface="Arial" panose="020B0604020202020204" pitchFamily="34" charset="0"/>
                <a:cs typeface="Arial" panose="020B0604020202020204" pitchFamily="34" charset="0"/>
              </a:rPr>
              <a:t>Divergence: </a:t>
            </a:r>
            <a:r>
              <a:rPr lang="en" sz="1600" dirty="0">
                <a:solidFill>
                  <a:schemeClr val="dk1"/>
                </a:solidFill>
                <a:latin typeface="Arial" panose="020B0604020202020204" pitchFamily="34" charset="0"/>
                <a:cs typeface="Arial" panose="020B0604020202020204" pitchFamily="34" charset="0"/>
              </a:rPr>
              <a:t>Explored multiple pricing models.</a:t>
            </a:r>
          </a:p>
          <a:p>
            <a:pPr marL="0" indent="0">
              <a:buNone/>
            </a:pPr>
            <a:endParaRPr sz="1600" dirty="0">
              <a:solidFill>
                <a:schemeClr val="dk1"/>
              </a:solidFill>
              <a:latin typeface="Arial" panose="020B0604020202020204" pitchFamily="34" charset="0"/>
              <a:cs typeface="Arial" panose="020B0604020202020204" pitchFamily="34" charset="0"/>
            </a:endParaRPr>
          </a:p>
          <a:p>
            <a:pPr marL="0" indent="0">
              <a:buNone/>
            </a:pPr>
            <a:r>
              <a:rPr lang="en" sz="1600" b="1" dirty="0">
                <a:solidFill>
                  <a:schemeClr val="dk1"/>
                </a:solidFill>
                <a:latin typeface="Arial" panose="020B0604020202020204" pitchFamily="34" charset="0"/>
                <a:cs typeface="Arial" panose="020B0604020202020204" pitchFamily="34" charset="0"/>
              </a:rPr>
              <a:t>Convergence: </a:t>
            </a:r>
            <a:r>
              <a:rPr lang="en" sz="1600" dirty="0">
                <a:solidFill>
                  <a:schemeClr val="dk1"/>
                </a:solidFill>
                <a:latin typeface="Arial" panose="020B0604020202020204" pitchFamily="34" charset="0"/>
                <a:cs typeface="Arial" panose="020B0604020202020204" pitchFamily="34" charset="0"/>
              </a:rPr>
              <a:t>Refined a sustainable strategy through feedback loops.</a:t>
            </a:r>
            <a:endParaRPr sz="1600" dirty="0">
              <a:solidFill>
                <a:schemeClr val="dk1"/>
              </a:solidFill>
              <a:latin typeface="Arial" panose="020B0604020202020204" pitchFamily="34" charset="0"/>
              <a:cs typeface="Arial" panose="020B0604020202020204" pitchFamily="34" charset="0"/>
            </a:endParaRPr>
          </a:p>
          <a:p>
            <a:pPr marL="0" indent="0">
              <a:spcBef>
                <a:spcPts val="2400"/>
              </a:spcBef>
              <a:spcAft>
                <a:spcPts val="2400"/>
              </a:spcAft>
              <a:buNone/>
            </a:pPr>
            <a:endParaRPr sz="1600" dirty="0">
              <a:solidFill>
                <a:schemeClr val="dk1"/>
              </a:solidFill>
              <a:latin typeface="Arial" panose="020B0604020202020204" pitchFamily="34" charset="0"/>
              <a:cs typeface="Arial" panose="020B0604020202020204" pitchFamily="34" charset="0"/>
            </a:endParaRPr>
          </a:p>
        </p:txBody>
      </p:sp>
      <p:pic>
        <p:nvPicPr>
          <p:cNvPr id="65" name="Google Shape;65;p14"/>
          <p:cNvPicPr preferRelativeResize="0"/>
          <p:nvPr/>
        </p:nvPicPr>
        <p:blipFill>
          <a:blip r:embed="rId3">
            <a:alphaModFix/>
          </a:blip>
          <a:stretch>
            <a:fillRect/>
          </a:stretch>
        </p:blipFill>
        <p:spPr>
          <a:xfrm>
            <a:off x="6033501" y="1289067"/>
            <a:ext cx="5915964" cy="3080467"/>
          </a:xfrm>
          <a:prstGeom prst="rect">
            <a:avLst/>
          </a:prstGeom>
          <a:noFill/>
          <a:ln>
            <a:noFill/>
          </a:ln>
        </p:spPr>
      </p:pic>
      <p:pic>
        <p:nvPicPr>
          <p:cNvPr id="66" name="Google Shape;66;p14"/>
          <p:cNvPicPr preferRelativeResize="0"/>
          <p:nvPr/>
        </p:nvPicPr>
        <p:blipFill>
          <a:blip r:embed="rId4">
            <a:alphaModFix/>
          </a:blip>
          <a:stretch>
            <a:fillRect/>
          </a:stretch>
        </p:blipFill>
        <p:spPr>
          <a:xfrm>
            <a:off x="358401" y="3514773"/>
            <a:ext cx="5413164" cy="2836867"/>
          </a:xfrm>
          <a:prstGeom prst="rect">
            <a:avLst/>
          </a:prstGeom>
          <a:noFill/>
          <a:ln>
            <a:noFill/>
          </a:ln>
        </p:spPr>
      </p:pic>
      <p:pic>
        <p:nvPicPr>
          <p:cNvPr id="67" name="Google Shape;67;p14"/>
          <p:cNvPicPr preferRelativeResize="0"/>
          <p:nvPr/>
        </p:nvPicPr>
        <p:blipFill>
          <a:blip r:embed="rId5">
            <a:alphaModFix/>
          </a:blip>
          <a:stretch>
            <a:fillRect/>
          </a:stretch>
        </p:blipFill>
        <p:spPr>
          <a:xfrm>
            <a:off x="6033499" y="4557165"/>
            <a:ext cx="3020715" cy="214463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advTm="38463"/>
    </mc:Choice>
    <mc:Fallback xmlns="">
      <p:transition spd="slow" advTm="38463"/>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384F685E-A5AC-2D06-DDFB-5731B93CDDEB}"/>
              </a:ext>
            </a:extLst>
          </p:cNvPr>
          <p:cNvSpPr txBox="1"/>
          <p:nvPr/>
        </p:nvSpPr>
        <p:spPr>
          <a:xfrm>
            <a:off x="3046863" y="3247746"/>
            <a:ext cx="6093724" cy="369332"/>
          </a:xfrm>
          <a:prstGeom prst="rect">
            <a:avLst/>
          </a:prstGeom>
          <a:noFill/>
        </p:spPr>
        <p:txBody>
          <a:bodyPr wrap="square">
            <a:spAutoFit/>
          </a:bodyPr>
          <a:lstStyle/>
          <a:p>
            <a:r>
              <a:rPr lang="zh-CN" altLang="en-US" b="0">
                <a:effectLst/>
              </a:rPr>
              <a:t> </a:t>
            </a:r>
            <a:endParaRPr lang="zh-CN" altLang="en-US" dirty="0"/>
          </a:p>
        </p:txBody>
      </p:sp>
      <p:sp>
        <p:nvSpPr>
          <p:cNvPr id="10" name="Google Shape;88;p1">
            <a:extLst>
              <a:ext uri="{FF2B5EF4-FFF2-40B4-BE49-F238E27FC236}">
                <a16:creationId xmlns:a16="http://schemas.microsoft.com/office/drawing/2014/main" id="{582DE611-B30C-2037-3CA1-3098E8563BE9}"/>
              </a:ext>
            </a:extLst>
          </p:cNvPr>
          <p:cNvSpPr txBox="1"/>
          <p:nvPr/>
        </p:nvSpPr>
        <p:spPr>
          <a:xfrm>
            <a:off x="255638" y="270180"/>
            <a:ext cx="9193161"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u="none" strike="noStrike" cap="none" dirty="0">
                <a:solidFill>
                  <a:schemeClr val="dk1"/>
                </a:solidFill>
                <a:latin typeface="Arial"/>
                <a:ea typeface="Arial"/>
                <a:cs typeface="Arial"/>
                <a:sym typeface="Arial"/>
              </a:rPr>
              <a:t>Learning Moment </a:t>
            </a:r>
            <a:r>
              <a:rPr lang="en-US" altLang="zh-CN" sz="2800" b="1" i="0" u="none" strike="noStrike" cap="none" dirty="0">
                <a:solidFill>
                  <a:schemeClr val="dk1"/>
                </a:solidFill>
                <a:latin typeface="Arial"/>
                <a:ea typeface="Arial"/>
                <a:cs typeface="Arial"/>
                <a:sym typeface="Arial"/>
              </a:rPr>
              <a:t>4</a:t>
            </a:r>
            <a:r>
              <a:rPr lang="en-US" sz="2800" b="1" i="0" u="none" strike="noStrike" cap="none" dirty="0">
                <a:solidFill>
                  <a:schemeClr val="dk1"/>
                </a:solidFill>
                <a:latin typeface="Arial"/>
                <a:ea typeface="Arial"/>
                <a:cs typeface="Arial"/>
                <a:sym typeface="Arial"/>
              </a:rPr>
              <a:t>: </a:t>
            </a:r>
            <a:r>
              <a:rPr lang="en-US" altLang="zh-CN" sz="2800" b="1" i="0" u="none" strike="noStrike" cap="none" dirty="0">
                <a:solidFill>
                  <a:schemeClr val="dk1"/>
                </a:solidFill>
                <a:latin typeface="Arial"/>
                <a:ea typeface="Arial"/>
                <a:cs typeface="Arial"/>
                <a:sym typeface="Arial"/>
              </a:rPr>
              <a:t>Testing Assumptions with MVEs</a:t>
            </a:r>
            <a:endParaRPr lang="en-US" sz="2800" b="1" dirty="0">
              <a:solidFill>
                <a:schemeClr val="dk1"/>
              </a:solidFill>
              <a:latin typeface="Arial"/>
              <a:ea typeface="Arial"/>
              <a:cs typeface="Arial"/>
              <a:sym typeface="Arial"/>
            </a:endParaRPr>
          </a:p>
        </p:txBody>
      </p:sp>
      <p:sp>
        <p:nvSpPr>
          <p:cNvPr id="11" name="Google Shape;89;p1">
            <a:extLst>
              <a:ext uri="{FF2B5EF4-FFF2-40B4-BE49-F238E27FC236}">
                <a16:creationId xmlns:a16="http://schemas.microsoft.com/office/drawing/2014/main" id="{D48A5ACD-4139-86DA-A299-13A3C595D557}"/>
              </a:ext>
            </a:extLst>
          </p:cNvPr>
          <p:cNvSpPr txBox="1"/>
          <p:nvPr/>
        </p:nvSpPr>
        <p:spPr>
          <a:xfrm>
            <a:off x="285132" y="934791"/>
            <a:ext cx="9615947" cy="1569620"/>
          </a:xfrm>
          <a:prstGeom prst="rect">
            <a:avLst/>
          </a:prstGeom>
          <a:noFill/>
          <a:ln>
            <a:noFill/>
          </a:ln>
        </p:spPr>
        <p:txBody>
          <a:bodyPr spcFirstLastPara="1" wrap="square" lIns="91425" tIns="45700" rIns="91425" bIns="45700" anchor="t" anchorCtr="0">
            <a:spAutoFit/>
          </a:bodyPr>
          <a:lstStyle/>
          <a:p>
            <a:pPr fontAlgn="base">
              <a:lnSpc>
                <a:spcPct val="150000"/>
              </a:lnSpc>
              <a:buClr>
                <a:srgbClr val="000000"/>
              </a:buClr>
            </a:pPr>
            <a:r>
              <a:rPr lang="en-US" altLang="zh-CN" sz="1600" dirty="0">
                <a:solidFill>
                  <a:schemeClr val="dk1"/>
                </a:solidFill>
                <a:latin typeface="Arial"/>
                <a:cs typeface="Arial"/>
                <a:sym typeface="Arial"/>
              </a:rPr>
              <a:t>Tested gamified engagement features (e.g., reminders, interactive tasks).</a:t>
            </a:r>
          </a:p>
          <a:p>
            <a:pPr fontAlgn="base">
              <a:lnSpc>
                <a:spcPct val="150000"/>
              </a:lnSpc>
              <a:buClr>
                <a:srgbClr val="000000"/>
              </a:buClr>
            </a:pPr>
            <a:r>
              <a:rPr lang="en-US" altLang="zh-CN" sz="1600" b="1" dirty="0">
                <a:solidFill>
                  <a:schemeClr val="dk1"/>
                </a:solidFill>
                <a:latin typeface="Arial"/>
                <a:cs typeface="Arial"/>
                <a:sym typeface="Arial"/>
              </a:rPr>
              <a:t>Debate: </a:t>
            </a:r>
            <a:r>
              <a:rPr lang="en-US" altLang="zh-CN" sz="1600" dirty="0">
                <a:solidFill>
                  <a:schemeClr val="dk1"/>
                </a:solidFill>
                <a:latin typeface="Arial"/>
                <a:cs typeface="Arial"/>
                <a:sym typeface="Arial"/>
              </a:rPr>
              <a:t>Prioritize engagement metrics or mental health outcomes.</a:t>
            </a:r>
          </a:p>
          <a:p>
            <a:pPr>
              <a:lnSpc>
                <a:spcPct val="150000"/>
              </a:lnSpc>
              <a:buClr>
                <a:srgbClr val="000000"/>
              </a:buClr>
            </a:pPr>
            <a:r>
              <a:rPr lang="en-US" altLang="zh-CN" sz="1600" b="1" dirty="0">
                <a:solidFill>
                  <a:schemeClr val="dk1"/>
                </a:solidFill>
                <a:latin typeface="Arial"/>
                <a:cs typeface="Arial"/>
                <a:sym typeface="Arial"/>
              </a:rPr>
              <a:t>Decision</a:t>
            </a:r>
            <a:r>
              <a:rPr lang="en-US" altLang="zh-CN" sz="1600" dirty="0">
                <a:solidFill>
                  <a:schemeClr val="dk1"/>
                </a:solidFill>
                <a:latin typeface="Arial"/>
                <a:cs typeface="Arial"/>
                <a:sym typeface="Arial"/>
              </a:rPr>
              <a:t>: Validate desirability first by focusing on engagement metrics; address broader outcomes in future iterations.</a:t>
            </a:r>
            <a:endParaRPr sz="1600" dirty="0">
              <a:solidFill>
                <a:schemeClr val="dk1"/>
              </a:solidFill>
              <a:latin typeface="Arial"/>
              <a:cs typeface="Arial"/>
              <a:sym typeface="Arial"/>
            </a:endParaRPr>
          </a:p>
        </p:txBody>
      </p:sp>
      <p:sp>
        <p:nvSpPr>
          <p:cNvPr id="12" name="AutoShape 2">
            <a:extLst>
              <a:ext uri="{FF2B5EF4-FFF2-40B4-BE49-F238E27FC236}">
                <a16:creationId xmlns:a16="http://schemas.microsoft.com/office/drawing/2014/main" id="{B0A05C5D-04F3-4D8E-CFED-770CF391DF4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028" name="Picture 4">
            <a:extLst>
              <a:ext uri="{FF2B5EF4-FFF2-40B4-BE49-F238E27FC236}">
                <a16:creationId xmlns:a16="http://schemas.microsoft.com/office/drawing/2014/main" id="{0BD25086-A1FA-1387-60AA-DC98FD287A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9862" y="2753004"/>
            <a:ext cx="7845332" cy="38348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5889943"/>
      </p:ext>
    </p:extLst>
  </p:cSld>
  <p:clrMapOvr>
    <a:masterClrMapping/>
  </p:clrMapOvr>
  <mc:AlternateContent xmlns:mc="http://schemas.openxmlformats.org/markup-compatibility/2006" xmlns:p14="http://schemas.microsoft.com/office/powerpoint/2010/main">
    <mc:Choice Requires="p14">
      <p:transition spd="slow" p14:dur="2000" advTm="41581"/>
    </mc:Choice>
    <mc:Fallback xmlns="">
      <p:transition spd="slow" advTm="41581"/>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A0003-4AA0-0C68-3619-D9A32B9A88D4}"/>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3E3B1E1D-864C-11C2-47E2-A04312089588}"/>
              </a:ext>
            </a:extLst>
          </p:cNvPr>
          <p:cNvSpPr txBox="1"/>
          <p:nvPr/>
        </p:nvSpPr>
        <p:spPr>
          <a:xfrm>
            <a:off x="3046863" y="3247746"/>
            <a:ext cx="6093724" cy="369332"/>
          </a:xfrm>
          <a:prstGeom prst="rect">
            <a:avLst/>
          </a:prstGeom>
          <a:noFill/>
        </p:spPr>
        <p:txBody>
          <a:bodyPr wrap="square">
            <a:spAutoFit/>
          </a:bodyPr>
          <a:lstStyle/>
          <a:p>
            <a:r>
              <a:rPr lang="zh-CN" altLang="en-US" b="0">
                <a:effectLst/>
              </a:rPr>
              <a:t> </a:t>
            </a:r>
            <a:endParaRPr lang="zh-CN" altLang="en-US" dirty="0"/>
          </a:p>
        </p:txBody>
      </p:sp>
      <p:sp>
        <p:nvSpPr>
          <p:cNvPr id="11" name="Google Shape;89;p1">
            <a:extLst>
              <a:ext uri="{FF2B5EF4-FFF2-40B4-BE49-F238E27FC236}">
                <a16:creationId xmlns:a16="http://schemas.microsoft.com/office/drawing/2014/main" id="{854CD077-2DFB-1ABC-72C4-2FAB61A3BE69}"/>
              </a:ext>
            </a:extLst>
          </p:cNvPr>
          <p:cNvSpPr txBox="1"/>
          <p:nvPr/>
        </p:nvSpPr>
        <p:spPr>
          <a:xfrm>
            <a:off x="255638" y="863184"/>
            <a:ext cx="9615947" cy="877123"/>
          </a:xfrm>
          <a:prstGeom prst="rect">
            <a:avLst/>
          </a:prstGeom>
          <a:noFill/>
          <a:ln>
            <a:noFill/>
          </a:ln>
        </p:spPr>
        <p:txBody>
          <a:bodyPr spcFirstLastPara="1" wrap="square" lIns="91425" tIns="45700" rIns="91425" bIns="45700" anchor="t" anchorCtr="0">
            <a:spAutoFit/>
          </a:bodyPr>
          <a:lstStyle/>
          <a:p>
            <a:pPr fontAlgn="base">
              <a:lnSpc>
                <a:spcPct val="150000"/>
              </a:lnSpc>
              <a:buClr>
                <a:srgbClr val="000000"/>
              </a:buClr>
            </a:pPr>
            <a:r>
              <a:rPr lang="en-US" altLang="zh-CN" sz="1800" b="0" i="0" u="none" strike="noStrike" dirty="0">
                <a:solidFill>
                  <a:srgbClr val="000000"/>
                </a:solidFill>
                <a:effectLst/>
                <a:latin typeface="Arial" panose="020B0604020202020204" pitchFamily="34" charset="0"/>
              </a:rPr>
              <a:t>Iterative refinement of experiments aligned desirability with feasibility.</a:t>
            </a:r>
          </a:p>
          <a:p>
            <a:pPr fontAlgn="base">
              <a:lnSpc>
                <a:spcPct val="150000"/>
              </a:lnSpc>
              <a:buClr>
                <a:srgbClr val="000000"/>
              </a:buClr>
            </a:pPr>
            <a:endParaRPr sz="1600" dirty="0">
              <a:solidFill>
                <a:schemeClr val="dk1"/>
              </a:solidFill>
              <a:latin typeface="Arial"/>
              <a:cs typeface="Arial"/>
              <a:sym typeface="Arial"/>
            </a:endParaRPr>
          </a:p>
        </p:txBody>
      </p:sp>
      <p:sp>
        <p:nvSpPr>
          <p:cNvPr id="12" name="AutoShape 2">
            <a:extLst>
              <a:ext uri="{FF2B5EF4-FFF2-40B4-BE49-F238E27FC236}">
                <a16:creationId xmlns:a16="http://schemas.microsoft.com/office/drawing/2014/main" id="{154A1CEA-682E-C90D-DCD1-726624E416E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 name="Google Shape;98;p2">
            <a:extLst>
              <a:ext uri="{FF2B5EF4-FFF2-40B4-BE49-F238E27FC236}">
                <a16:creationId xmlns:a16="http://schemas.microsoft.com/office/drawing/2014/main" id="{FFA54F24-F2BC-B585-E9FD-2F91C02A5F6A}"/>
              </a:ext>
            </a:extLst>
          </p:cNvPr>
          <p:cNvSpPr txBox="1"/>
          <p:nvPr/>
        </p:nvSpPr>
        <p:spPr>
          <a:xfrm>
            <a:off x="255638" y="270180"/>
            <a:ext cx="9193161"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Arial"/>
                <a:ea typeface="Arial"/>
                <a:cs typeface="Arial"/>
                <a:sym typeface="Arial"/>
              </a:rPr>
              <a:t>DD+ Framework Application</a:t>
            </a:r>
            <a:endParaRPr sz="2000" b="1" dirty="0">
              <a:solidFill>
                <a:schemeClr val="dk1"/>
              </a:solidFill>
              <a:latin typeface="Arial"/>
              <a:ea typeface="Arial"/>
              <a:cs typeface="Arial"/>
              <a:sym typeface="Arial"/>
            </a:endParaRPr>
          </a:p>
        </p:txBody>
      </p:sp>
      <p:pic>
        <p:nvPicPr>
          <p:cNvPr id="2050" name="Picture 2">
            <a:extLst>
              <a:ext uri="{FF2B5EF4-FFF2-40B4-BE49-F238E27FC236}">
                <a16:creationId xmlns:a16="http://schemas.microsoft.com/office/drawing/2014/main" id="{0ED26E3A-83A9-7352-DC3B-A364B86995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445" y="1933201"/>
            <a:ext cx="8286245" cy="47299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4069568"/>
      </p:ext>
    </p:extLst>
  </p:cSld>
  <p:clrMapOvr>
    <a:masterClrMapping/>
  </p:clrMapOvr>
  <mc:AlternateContent xmlns:mc="http://schemas.openxmlformats.org/markup-compatibility/2006" xmlns:p14="http://schemas.microsoft.com/office/powerpoint/2010/main">
    <mc:Choice Requires="p14">
      <p:transition spd="slow" p14:dur="2000" advTm="15123"/>
    </mc:Choice>
    <mc:Fallback xmlns="">
      <p:transition spd="slow" advTm="15123"/>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6"/>
          <p:cNvSpPr txBox="1">
            <a:spLocks noGrp="1"/>
          </p:cNvSpPr>
          <p:nvPr>
            <p:ph type="title" idx="4294967295"/>
          </p:nvPr>
        </p:nvSpPr>
        <p:spPr>
          <a:xfrm>
            <a:off x="229929" y="1031600"/>
            <a:ext cx="5722000" cy="5826400"/>
          </a:xfrm>
          <a:prstGeom prst="rect">
            <a:avLst/>
          </a:prstGeom>
        </p:spPr>
        <p:txBody>
          <a:bodyPr spcFirstLastPara="1" vert="horz" wrap="square" lIns="121900" tIns="121900" rIns="121900" bIns="121900" rtlCol="0" anchor="t" anchorCtr="0">
            <a:noAutofit/>
          </a:bodyPr>
          <a:lstStyle/>
          <a:p>
            <a:pPr>
              <a:spcBef>
                <a:spcPts val="0"/>
              </a:spcBef>
              <a:buClr>
                <a:schemeClr val="dk1"/>
              </a:buClr>
              <a:buSzPts val="1100"/>
            </a:pPr>
            <a:r>
              <a:rPr lang="en" sz="1600" b="1" dirty="0">
                <a:solidFill>
                  <a:srgbClr val="0E0E0E"/>
                </a:solidFill>
                <a:latin typeface="Arial" panose="020B0604020202020204" pitchFamily="34" charset="0"/>
                <a:ea typeface="Arial"/>
                <a:cs typeface="Arial" panose="020B0604020202020204" pitchFamily="34" charset="0"/>
                <a:sym typeface="Arial"/>
              </a:rPr>
              <a:t>Stakeholder Feedback:</a:t>
            </a:r>
            <a:endParaRPr sz="1600" b="1" dirty="0">
              <a:solidFill>
                <a:srgbClr val="0E0E0E"/>
              </a:solidFill>
              <a:latin typeface="Arial" panose="020B0604020202020204" pitchFamily="34" charset="0"/>
              <a:ea typeface="Arial"/>
              <a:cs typeface="Arial" panose="020B0604020202020204" pitchFamily="34" charset="0"/>
              <a:sym typeface="Arial"/>
            </a:endParaRPr>
          </a:p>
          <a:p>
            <a:pPr marL="609585" indent="-414856">
              <a:lnSpc>
                <a:spcPct val="115000"/>
              </a:lnSpc>
              <a:spcBef>
                <a:spcPts val="1200"/>
              </a:spcBef>
              <a:buClr>
                <a:srgbClr val="0E0E0E"/>
              </a:buClr>
              <a:buSzPts val="1300"/>
              <a:buFont typeface="Arial"/>
              <a:buChar char="●"/>
            </a:pPr>
            <a:r>
              <a:rPr lang="en" sz="1600" dirty="0">
                <a:solidFill>
                  <a:srgbClr val="0E0E0E"/>
                </a:solidFill>
                <a:latin typeface="Arial" panose="020B0604020202020204" pitchFamily="34" charset="0"/>
                <a:ea typeface="Arial"/>
                <a:cs typeface="Arial" panose="020B0604020202020204" pitchFamily="34" charset="0"/>
                <a:sym typeface="Arial"/>
              </a:rPr>
              <a:t>Stakeholders emphasized the need for community-driven features like shared stress management challenges.</a:t>
            </a:r>
            <a:endParaRPr sz="1600" dirty="0">
              <a:solidFill>
                <a:srgbClr val="0E0E0E"/>
              </a:solidFill>
              <a:latin typeface="Arial" panose="020B0604020202020204" pitchFamily="34" charset="0"/>
              <a:ea typeface="Arial"/>
              <a:cs typeface="Arial" panose="020B0604020202020204" pitchFamily="34" charset="0"/>
              <a:sym typeface="Arial"/>
            </a:endParaRPr>
          </a:p>
          <a:p>
            <a:pPr marL="423323" indent="-423323">
              <a:lnSpc>
                <a:spcPct val="115000"/>
              </a:lnSpc>
              <a:spcBef>
                <a:spcPts val="1200"/>
              </a:spcBef>
            </a:pPr>
            <a:r>
              <a:rPr lang="en" sz="1600" b="1" dirty="0">
                <a:solidFill>
                  <a:srgbClr val="0E0E0E"/>
                </a:solidFill>
                <a:latin typeface="Arial" panose="020B0604020202020204" pitchFamily="34" charset="0"/>
                <a:ea typeface="Arial"/>
                <a:cs typeface="Arial" panose="020B0604020202020204" pitchFamily="34" charset="0"/>
                <a:sym typeface="Arial"/>
              </a:rPr>
              <a:t>Minor Pivot:</a:t>
            </a:r>
            <a:endParaRPr sz="1600" b="1" dirty="0">
              <a:solidFill>
                <a:srgbClr val="0E0E0E"/>
              </a:solidFill>
              <a:latin typeface="Arial" panose="020B0604020202020204" pitchFamily="34" charset="0"/>
              <a:ea typeface="Arial"/>
              <a:cs typeface="Arial" panose="020B0604020202020204" pitchFamily="34" charset="0"/>
              <a:sym typeface="Arial"/>
            </a:endParaRPr>
          </a:p>
          <a:p>
            <a:pPr marL="609585" indent="-414856">
              <a:lnSpc>
                <a:spcPct val="115000"/>
              </a:lnSpc>
              <a:spcBef>
                <a:spcPts val="1200"/>
              </a:spcBef>
              <a:buClr>
                <a:srgbClr val="0E0E0E"/>
              </a:buClr>
              <a:buSzPts val="1300"/>
              <a:buFont typeface="Arial"/>
              <a:buChar char="●"/>
            </a:pPr>
            <a:r>
              <a:rPr lang="en" sz="1600" dirty="0">
                <a:solidFill>
                  <a:srgbClr val="0E0E0E"/>
                </a:solidFill>
                <a:latin typeface="Arial" panose="020B0604020202020204" pitchFamily="34" charset="0"/>
                <a:ea typeface="Arial"/>
                <a:cs typeface="Arial" panose="020B0604020202020204" pitchFamily="34" charset="0"/>
                <a:sym typeface="Arial"/>
              </a:rPr>
              <a:t>Enhanced engagement without overcomplicating the platform.</a:t>
            </a:r>
            <a:endParaRPr sz="1600" dirty="0">
              <a:solidFill>
                <a:srgbClr val="0E0E0E"/>
              </a:solidFill>
              <a:latin typeface="Arial" panose="020B0604020202020204" pitchFamily="34" charset="0"/>
              <a:ea typeface="Arial"/>
              <a:cs typeface="Arial" panose="020B0604020202020204" pitchFamily="34" charset="0"/>
              <a:sym typeface="Arial"/>
            </a:endParaRPr>
          </a:p>
          <a:p>
            <a:pPr marL="423323" indent="-423323">
              <a:lnSpc>
                <a:spcPct val="115000"/>
              </a:lnSpc>
              <a:spcBef>
                <a:spcPts val="1200"/>
              </a:spcBef>
            </a:pPr>
            <a:r>
              <a:rPr lang="en" sz="1600" b="1" dirty="0">
                <a:solidFill>
                  <a:srgbClr val="0E0E0E"/>
                </a:solidFill>
                <a:latin typeface="Arial" panose="020B0604020202020204" pitchFamily="34" charset="0"/>
                <a:ea typeface="Arial"/>
                <a:cs typeface="Arial" panose="020B0604020202020204" pitchFamily="34" charset="0"/>
                <a:sym typeface="Arial"/>
              </a:rPr>
              <a:t>Iterative Process:</a:t>
            </a:r>
            <a:endParaRPr sz="1600" b="1" dirty="0">
              <a:solidFill>
                <a:srgbClr val="0E0E0E"/>
              </a:solidFill>
              <a:latin typeface="Arial" panose="020B0604020202020204" pitchFamily="34" charset="0"/>
              <a:ea typeface="Arial"/>
              <a:cs typeface="Arial" panose="020B0604020202020204" pitchFamily="34" charset="0"/>
              <a:sym typeface="Arial"/>
            </a:endParaRPr>
          </a:p>
          <a:p>
            <a:pPr marL="609585" indent="-414856">
              <a:lnSpc>
                <a:spcPct val="115000"/>
              </a:lnSpc>
              <a:spcBef>
                <a:spcPts val="1200"/>
              </a:spcBef>
              <a:buClr>
                <a:srgbClr val="0E0E0E"/>
              </a:buClr>
              <a:buSzPts val="1300"/>
              <a:buFont typeface="Arial"/>
              <a:buChar char="●"/>
            </a:pPr>
            <a:r>
              <a:rPr lang="en" sz="1600" dirty="0">
                <a:solidFill>
                  <a:srgbClr val="0E0E0E"/>
                </a:solidFill>
                <a:latin typeface="Arial" panose="020B0604020202020204" pitchFamily="34" charset="0"/>
                <a:ea typeface="Arial"/>
                <a:cs typeface="Arial" panose="020B0604020202020204" pitchFamily="34" charset="0"/>
                <a:sym typeface="Arial"/>
              </a:rPr>
              <a:t>Cycles of divergence (gathering inputs) and convergence (prioritizing improvements) refined the prototype.</a:t>
            </a:r>
            <a:endParaRPr sz="1600" dirty="0">
              <a:solidFill>
                <a:srgbClr val="0E0E0E"/>
              </a:solidFill>
              <a:latin typeface="Arial" panose="020B0604020202020204" pitchFamily="34" charset="0"/>
              <a:ea typeface="Arial"/>
              <a:cs typeface="Arial" panose="020B0604020202020204" pitchFamily="34" charset="0"/>
              <a:sym typeface="Arial"/>
            </a:endParaRPr>
          </a:p>
          <a:p>
            <a:pPr marL="423323" indent="-423323">
              <a:lnSpc>
                <a:spcPct val="115000"/>
              </a:lnSpc>
              <a:spcBef>
                <a:spcPts val="1200"/>
              </a:spcBef>
            </a:pPr>
            <a:r>
              <a:rPr lang="en" sz="1600" b="1" dirty="0">
                <a:solidFill>
                  <a:srgbClr val="0E0E0E"/>
                </a:solidFill>
                <a:latin typeface="Arial" panose="020B0604020202020204" pitchFamily="34" charset="0"/>
                <a:ea typeface="Arial"/>
                <a:cs typeface="Arial" panose="020B0604020202020204" pitchFamily="34" charset="0"/>
                <a:sym typeface="Arial"/>
              </a:rPr>
              <a:t>Framework Applied:</a:t>
            </a:r>
            <a:endParaRPr sz="1600" b="1" dirty="0">
              <a:solidFill>
                <a:srgbClr val="0E0E0E"/>
              </a:solidFill>
              <a:latin typeface="Arial" panose="020B0604020202020204" pitchFamily="34" charset="0"/>
              <a:ea typeface="Arial"/>
              <a:cs typeface="Arial" panose="020B0604020202020204" pitchFamily="34" charset="0"/>
              <a:sym typeface="Arial"/>
            </a:endParaRPr>
          </a:p>
          <a:p>
            <a:pPr marL="609585" indent="-414856">
              <a:lnSpc>
                <a:spcPct val="115000"/>
              </a:lnSpc>
              <a:spcBef>
                <a:spcPts val="1200"/>
              </a:spcBef>
              <a:buClr>
                <a:srgbClr val="0E0E0E"/>
              </a:buClr>
              <a:buSzPts val="1300"/>
              <a:buFont typeface="Arial"/>
              <a:buChar char="●"/>
            </a:pPr>
            <a:r>
              <a:rPr lang="en" sz="1600" dirty="0">
                <a:solidFill>
                  <a:srgbClr val="0E0E0E"/>
                </a:solidFill>
                <a:latin typeface="Arial" panose="020B0604020202020204" pitchFamily="34" charset="0"/>
                <a:ea typeface="Arial"/>
                <a:cs typeface="Arial" panose="020B0604020202020204" pitchFamily="34" charset="0"/>
                <a:sym typeface="Arial"/>
              </a:rPr>
              <a:t>Adaptability in innovation achieved using the DD+ framework.</a:t>
            </a:r>
            <a:endParaRPr sz="1600" dirty="0">
              <a:latin typeface="Arial" panose="020B0604020202020204" pitchFamily="34" charset="0"/>
              <a:cs typeface="Arial" panose="020B0604020202020204" pitchFamily="34" charset="0"/>
            </a:endParaRPr>
          </a:p>
        </p:txBody>
      </p:sp>
      <p:sp>
        <p:nvSpPr>
          <p:cNvPr id="466" name="Google Shape;466;p66"/>
          <p:cNvSpPr txBox="1">
            <a:spLocks noGrp="1"/>
          </p:cNvSpPr>
          <p:nvPr>
            <p:ph type="title" idx="4294967295"/>
          </p:nvPr>
        </p:nvSpPr>
        <p:spPr>
          <a:xfrm>
            <a:off x="151271" y="187535"/>
            <a:ext cx="11221200" cy="681200"/>
          </a:xfrm>
          <a:prstGeom prst="rect">
            <a:avLst/>
          </a:prstGeom>
        </p:spPr>
        <p:txBody>
          <a:bodyPr spcFirstLastPara="1" vert="horz" wrap="square" lIns="121900" tIns="121900" rIns="121900" bIns="121900" rtlCol="0" anchor="t" anchorCtr="0">
            <a:noAutofit/>
          </a:bodyPr>
          <a:lstStyle/>
          <a:p>
            <a:pPr>
              <a:spcBef>
                <a:spcPts val="0"/>
              </a:spcBef>
              <a:buClr>
                <a:schemeClr val="dk1"/>
              </a:buClr>
              <a:buSzPts val="1100"/>
            </a:pPr>
            <a:r>
              <a:rPr lang="en" sz="2800" b="1" dirty="0">
                <a:latin typeface="Arial" panose="020B0604020202020204" pitchFamily="34" charset="0"/>
                <a:cs typeface="Arial" panose="020B0604020202020204" pitchFamily="34" charset="0"/>
              </a:rPr>
              <a:t>Learning Moment 5: Iteration and Feedback Integration</a:t>
            </a:r>
            <a:endParaRPr sz="2800" b="1" dirty="0">
              <a:latin typeface="Arial" panose="020B0604020202020204" pitchFamily="34" charset="0"/>
              <a:cs typeface="Arial" panose="020B0604020202020204" pitchFamily="34" charset="0"/>
            </a:endParaRPr>
          </a:p>
        </p:txBody>
      </p:sp>
      <p:pic>
        <p:nvPicPr>
          <p:cNvPr id="467" name="Google Shape;467;p66"/>
          <p:cNvPicPr preferRelativeResize="0"/>
          <p:nvPr/>
        </p:nvPicPr>
        <p:blipFill>
          <a:blip r:embed="rId3">
            <a:alphaModFix/>
          </a:blip>
          <a:stretch>
            <a:fillRect/>
          </a:stretch>
        </p:blipFill>
        <p:spPr>
          <a:xfrm>
            <a:off x="5824076" y="890034"/>
            <a:ext cx="4631900" cy="3261333"/>
          </a:xfrm>
          <a:prstGeom prst="rect">
            <a:avLst/>
          </a:prstGeom>
          <a:noFill/>
          <a:ln w="9525" cap="flat" cmpd="sng">
            <a:solidFill>
              <a:schemeClr val="dk2"/>
            </a:solidFill>
            <a:prstDash val="solid"/>
            <a:round/>
            <a:headEnd type="none" w="sm" len="sm"/>
            <a:tailEnd type="none" w="sm" len="sm"/>
          </a:ln>
        </p:spPr>
      </p:pic>
      <p:pic>
        <p:nvPicPr>
          <p:cNvPr id="468" name="Google Shape;468;p66"/>
          <p:cNvPicPr preferRelativeResize="0"/>
          <p:nvPr/>
        </p:nvPicPr>
        <p:blipFill>
          <a:blip r:embed="rId4">
            <a:alphaModFix/>
          </a:blip>
          <a:stretch>
            <a:fillRect/>
          </a:stretch>
        </p:blipFill>
        <p:spPr>
          <a:xfrm>
            <a:off x="6998076" y="3164633"/>
            <a:ext cx="4395132" cy="3505832"/>
          </a:xfrm>
          <a:prstGeom prst="rect">
            <a:avLst/>
          </a:prstGeom>
          <a:noFill/>
          <a:ln w="9525" cap="flat" cmpd="sng">
            <a:solidFill>
              <a:schemeClr val="dk2"/>
            </a:solidFill>
            <a:prstDash val="solid"/>
            <a:round/>
            <a:headEnd type="none" w="sm" len="sm"/>
            <a:tailEnd type="none" w="sm" len="sm"/>
          </a:ln>
        </p:spPr>
      </p:pic>
    </p:spTree>
  </p:cSld>
  <p:clrMapOvr>
    <a:masterClrMapping/>
  </p:clrMapOvr>
  <mc:AlternateContent xmlns:mc="http://schemas.openxmlformats.org/markup-compatibility/2006" xmlns:p14="http://schemas.microsoft.com/office/powerpoint/2010/main">
    <mc:Choice Requires="p14">
      <p:transition spd="slow" p14:dur="2000" advTm="51348"/>
    </mc:Choice>
    <mc:Fallback xmlns="">
      <p:transition spd="slow" advTm="51348"/>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5D61D-52D6-27EF-0621-CCD30C11A26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E26B207-E710-1327-F361-C743689ECC7B}"/>
              </a:ext>
            </a:extLst>
          </p:cNvPr>
          <p:cNvPicPr>
            <a:picLocks noChangeAspect="1"/>
          </p:cNvPicPr>
          <p:nvPr/>
        </p:nvPicPr>
        <p:blipFill>
          <a:blip r:embed="rId3"/>
          <a:stretch>
            <a:fillRect/>
          </a:stretch>
        </p:blipFill>
        <p:spPr>
          <a:xfrm>
            <a:off x="5134993" y="2680667"/>
            <a:ext cx="4516947" cy="4036627"/>
          </a:xfrm>
          <a:prstGeom prst="rect">
            <a:avLst/>
          </a:prstGeom>
          <a:ln w="28575">
            <a:solidFill>
              <a:schemeClr val="accent1">
                <a:lumMod val="50000"/>
              </a:schemeClr>
            </a:solidFill>
          </a:ln>
        </p:spPr>
      </p:pic>
      <p:pic>
        <p:nvPicPr>
          <p:cNvPr id="3" name="Picture 2">
            <a:extLst>
              <a:ext uri="{FF2B5EF4-FFF2-40B4-BE49-F238E27FC236}">
                <a16:creationId xmlns:a16="http://schemas.microsoft.com/office/drawing/2014/main" id="{F427AA83-F189-761A-D941-7F7B6B544D0B}"/>
              </a:ext>
            </a:extLst>
          </p:cNvPr>
          <p:cNvPicPr>
            <a:picLocks noChangeAspect="1"/>
          </p:cNvPicPr>
          <p:nvPr/>
        </p:nvPicPr>
        <p:blipFill>
          <a:blip r:embed="rId4"/>
          <a:stretch>
            <a:fillRect/>
          </a:stretch>
        </p:blipFill>
        <p:spPr>
          <a:xfrm>
            <a:off x="260553" y="2392782"/>
            <a:ext cx="6502212" cy="4036627"/>
          </a:xfrm>
          <a:prstGeom prst="rect">
            <a:avLst/>
          </a:prstGeom>
          <a:ln w="28575">
            <a:solidFill>
              <a:schemeClr val="accent1">
                <a:lumMod val="50000"/>
              </a:schemeClr>
            </a:solidFill>
          </a:ln>
        </p:spPr>
      </p:pic>
      <p:sp>
        <p:nvSpPr>
          <p:cNvPr id="2" name="TextBox 1">
            <a:extLst>
              <a:ext uri="{FF2B5EF4-FFF2-40B4-BE49-F238E27FC236}">
                <a16:creationId xmlns:a16="http://schemas.microsoft.com/office/drawing/2014/main" id="{8893C18A-C5FE-F665-3E71-A61DFA5EF380}"/>
              </a:ext>
            </a:extLst>
          </p:cNvPr>
          <p:cNvSpPr txBox="1"/>
          <p:nvPr/>
        </p:nvSpPr>
        <p:spPr>
          <a:xfrm>
            <a:off x="255638" y="270180"/>
            <a:ext cx="9193161" cy="523220"/>
          </a:xfrm>
          <a:prstGeom prst="rect">
            <a:avLst/>
          </a:prstGeom>
          <a:noFill/>
        </p:spPr>
        <p:txBody>
          <a:bodyPr wrap="square" rtlCol="0">
            <a:spAutoFit/>
          </a:bodyPr>
          <a:lstStyle/>
          <a:p>
            <a:r>
              <a:rPr lang="en-US" sz="2800" b="1" dirty="0">
                <a:latin typeface="Arial" panose="020B0604020202020204" pitchFamily="34" charset="0"/>
                <a:cs typeface="Arial" panose="020B0604020202020204" pitchFamily="34" charset="0"/>
              </a:rPr>
              <a:t>Key Takeaways</a:t>
            </a:r>
            <a:endParaRPr lang="en-SG" sz="2800" b="1"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3D05B1A5-C464-979F-7FC2-B5CC1C403A9B}"/>
              </a:ext>
            </a:extLst>
          </p:cNvPr>
          <p:cNvSpPr txBox="1"/>
          <p:nvPr/>
        </p:nvSpPr>
        <p:spPr>
          <a:xfrm>
            <a:off x="285132" y="1081548"/>
            <a:ext cx="11244522" cy="1200329"/>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Our journey highlighted constructive debates, tradeoffs, and iterative refinements as key to impactful solutions.</a:t>
            </a:r>
          </a:p>
          <a:p>
            <a:pPr marL="285750" indent="-285750">
              <a:buFont typeface="Arial" panose="020B0604020202020204" pitchFamily="34" charset="0"/>
              <a:buChar char="•"/>
            </a:pPr>
            <a:endParaRPr lang="en-US" sz="8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Through pivots and iterations, we balanced desirability, feasibility, and viability to create a meaningful and sustainable solution.</a:t>
            </a:r>
          </a:p>
          <a:p>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9235930"/>
      </p:ext>
    </p:extLst>
  </p:cSld>
  <p:clrMapOvr>
    <a:masterClrMapping/>
  </p:clrMapOvr>
  <mc:AlternateContent xmlns:mc="http://schemas.openxmlformats.org/markup-compatibility/2006" xmlns:p14="http://schemas.microsoft.com/office/powerpoint/2010/main">
    <mc:Choice Requires="p14">
      <p:transition spd="slow" p14:dur="2000" advTm="37785"/>
    </mc:Choice>
    <mc:Fallback xmlns="">
      <p:transition spd="slow" advTm="37785"/>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4262</TotalTime>
  <Words>962</Words>
  <Application>Microsoft Office PowerPoint</Application>
  <PresentationFormat>Widescreen</PresentationFormat>
  <Paragraphs>83</Paragraphs>
  <Slides>12</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等线</vt:lpstr>
      <vt:lpstr>Inter</vt:lpstr>
      <vt:lpstr>Office Theme</vt:lpstr>
      <vt:lpstr>PowerPoint Presentation</vt:lpstr>
      <vt:lpstr>Tackling Mental Health Challenges   Addressing stress through accessible mental health tools  for high school students.</vt:lpstr>
      <vt:lpstr>PowerPoint Presentation</vt:lpstr>
      <vt:lpstr>PowerPoint Presentation</vt:lpstr>
      <vt:lpstr>PowerPoint Presentation</vt:lpstr>
      <vt:lpstr>PowerPoint Presentation</vt:lpstr>
      <vt:lpstr>Learning Moment 3: Business Model Development</vt:lpstr>
      <vt:lpstr>DD+ Framework Application</vt:lpstr>
      <vt:lpstr>PowerPoint Presentation</vt:lpstr>
      <vt:lpstr>PowerPoint Presentation</vt:lpstr>
      <vt:lpstr>Stakeholder Feedback: Stakeholders emphasized the need for community-driven features like shared stress management challenges. Minor Pivot: Enhanced engagement without overcomplicating the platform. Iterative Process: Cycles of divergence (gathering inputs) and convergence (prioritizing improvements) refined the prototype. Framework Applied: Adaptability in innovation achieved using the DD+ framework.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Victoria Tan</dc:creator>
  <cp:lastModifiedBy>Shilpa Dixit</cp:lastModifiedBy>
  <cp:revision>21</cp:revision>
  <dcterms:created xsi:type="dcterms:W3CDTF">2024-11-30T12:50:26Z</dcterms:created>
  <dcterms:modified xsi:type="dcterms:W3CDTF">2025-06-08T12:32:04Z</dcterms:modified>
</cp:coreProperties>
</file>